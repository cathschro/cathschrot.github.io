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notesMasterIdLst>
    <p:notesMasterId r:id="rId11"/>
  </p:notesMasterIdLst>
  <p:sldIdLst>
    <p:sldId id="256" r:id="rId2"/>
    <p:sldId id="261" r:id="rId3"/>
    <p:sldId id="260" r:id="rId4"/>
    <p:sldId id="262" r:id="rId5"/>
    <p:sldId id="263" r:id="rId6"/>
    <p:sldId id="265" r:id="rId7"/>
    <p:sldId id="264"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2" autoAdjust="0"/>
    <p:restoredTop sz="79353" autoAdjust="0"/>
  </p:normalViewPr>
  <p:slideViewPr>
    <p:cSldViewPr snapToGrid="0">
      <p:cViewPr>
        <p:scale>
          <a:sx n="70" d="100"/>
          <a:sy n="70" d="100"/>
        </p:scale>
        <p:origin x="891"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C7ACF8-FAE9-431B-BB86-A90C33F8338C}" type="datetimeFigureOut">
              <a:rPr lang="en-US" smtClean="0"/>
              <a:t>7/21/2023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042DA-3BEB-432C-BA71-42ECBA2500F9}" type="slidenum">
              <a:rPr lang="en-US" smtClean="0"/>
              <a:t>‹#›</a:t>
            </a:fld>
            <a:endParaRPr lang="en-US"/>
          </a:p>
        </p:txBody>
      </p:sp>
    </p:spTree>
    <p:extLst>
      <p:ext uri="{BB962C8B-B14F-4D97-AF65-F5344CB8AC3E}">
        <p14:creationId xmlns:p14="http://schemas.microsoft.com/office/powerpoint/2010/main" val="1043369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career with the State I was heavily involved in the data supporting the Public Health Emergency (PHE) response.  We leveraged state and federal support with programs to help citizens survive.  My question in relation to this has to do with the PHE ending.  With it ending and removal of benefits going to hurt people more than the short term benefits they provided?</a:t>
            </a:r>
          </a:p>
          <a:p>
            <a:endParaRPr lang="en-US" dirty="0"/>
          </a:p>
          <a:p>
            <a:r>
              <a:rPr lang="en-US" dirty="0"/>
              <a:t>This will be evaluated through five questions on specific programmatic changes or adjustments that were implemented nation wide.</a:t>
            </a:r>
          </a:p>
        </p:txBody>
      </p:sp>
      <p:sp>
        <p:nvSpPr>
          <p:cNvPr id="4" name="Slide Number Placeholder 3"/>
          <p:cNvSpPr>
            <a:spLocks noGrp="1"/>
          </p:cNvSpPr>
          <p:nvPr>
            <p:ph type="sldNum" sz="quarter" idx="5"/>
          </p:nvPr>
        </p:nvSpPr>
        <p:spPr/>
        <p:txBody>
          <a:bodyPr/>
          <a:lstStyle/>
          <a:p>
            <a:fld id="{095042DA-3BEB-432C-BA71-42ECBA2500F9}" type="slidenum">
              <a:rPr lang="en-US" smtClean="0"/>
              <a:t>2</a:t>
            </a:fld>
            <a:endParaRPr lang="en-US"/>
          </a:p>
        </p:txBody>
      </p:sp>
    </p:spTree>
    <p:extLst>
      <p:ext uri="{BB962C8B-B14F-4D97-AF65-F5344CB8AC3E}">
        <p14:creationId xmlns:p14="http://schemas.microsoft.com/office/powerpoint/2010/main" val="1195398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pandemic, the Federal government waived the recertification for people to keep their Medicaid coverage.  This allowed people who were qualified and had Medicaid prior to the pandemic to continue receiving benefits, and those that started Medicaid during the pandemic kept benefits without having to go through recertification.  This exception ended April 2023, requiring states to recertify everyone.  Some states are doing it as the recipient comes up for renewal, other did their entire population all at once.  </a:t>
            </a:r>
          </a:p>
        </p:txBody>
      </p:sp>
      <p:sp>
        <p:nvSpPr>
          <p:cNvPr id="4" name="Slide Number Placeholder 3"/>
          <p:cNvSpPr>
            <a:spLocks noGrp="1"/>
          </p:cNvSpPr>
          <p:nvPr>
            <p:ph type="sldNum" sz="quarter" idx="5"/>
          </p:nvPr>
        </p:nvSpPr>
        <p:spPr/>
        <p:txBody>
          <a:bodyPr/>
          <a:lstStyle/>
          <a:p>
            <a:fld id="{095042DA-3BEB-432C-BA71-42ECBA2500F9}" type="slidenum">
              <a:rPr lang="en-US" smtClean="0"/>
              <a:t>3</a:t>
            </a:fld>
            <a:endParaRPr lang="en-US"/>
          </a:p>
        </p:txBody>
      </p:sp>
    </p:spTree>
    <p:extLst>
      <p:ext uri="{BB962C8B-B14F-4D97-AF65-F5344CB8AC3E}">
        <p14:creationId xmlns:p14="http://schemas.microsoft.com/office/powerpoint/2010/main" val="2591705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some citizens losing Medicaid coverage, federal funding for free testing and vaccinations has expired.  It has been proven that the vaccine is effective in limiting transmission and severity of disease.  </a:t>
            </a:r>
          </a:p>
        </p:txBody>
      </p:sp>
      <p:sp>
        <p:nvSpPr>
          <p:cNvPr id="4" name="Slide Number Placeholder 3"/>
          <p:cNvSpPr>
            <a:spLocks noGrp="1"/>
          </p:cNvSpPr>
          <p:nvPr>
            <p:ph type="sldNum" sz="quarter" idx="5"/>
          </p:nvPr>
        </p:nvSpPr>
        <p:spPr/>
        <p:txBody>
          <a:bodyPr/>
          <a:lstStyle/>
          <a:p>
            <a:fld id="{095042DA-3BEB-432C-BA71-42ECBA2500F9}" type="slidenum">
              <a:rPr lang="en-US" smtClean="0"/>
              <a:t>4</a:t>
            </a:fld>
            <a:endParaRPr lang="en-US"/>
          </a:p>
        </p:txBody>
      </p:sp>
    </p:spTree>
    <p:extLst>
      <p:ext uri="{BB962C8B-B14F-4D97-AF65-F5344CB8AC3E}">
        <p14:creationId xmlns:p14="http://schemas.microsoft.com/office/powerpoint/2010/main" val="3670680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lock down and quarantine impacting the nation for several months, the retail, entertainment, food services and hospitality industries were hit the hardest with the lack of customers.  Some were able to adapt (online ordering, carryout only, curbside groceries) and others could not (hotels remained empty and concerts were cancelled).  Surveys were completed by the Proceedings of the National Academy of Sciences to business to evaluate impact and need for financial assistance.</a:t>
            </a:r>
          </a:p>
        </p:txBody>
      </p:sp>
      <p:sp>
        <p:nvSpPr>
          <p:cNvPr id="4" name="Slide Number Placeholder 3"/>
          <p:cNvSpPr>
            <a:spLocks noGrp="1"/>
          </p:cNvSpPr>
          <p:nvPr>
            <p:ph type="sldNum" sz="quarter" idx="5"/>
          </p:nvPr>
        </p:nvSpPr>
        <p:spPr/>
        <p:txBody>
          <a:bodyPr/>
          <a:lstStyle/>
          <a:p>
            <a:fld id="{095042DA-3BEB-432C-BA71-42ECBA2500F9}" type="slidenum">
              <a:rPr lang="en-US" smtClean="0"/>
              <a:t>5</a:t>
            </a:fld>
            <a:endParaRPr lang="en-US"/>
          </a:p>
        </p:txBody>
      </p:sp>
    </p:spTree>
    <p:extLst>
      <p:ext uri="{BB962C8B-B14F-4D97-AF65-F5344CB8AC3E}">
        <p14:creationId xmlns:p14="http://schemas.microsoft.com/office/powerpoint/2010/main" val="661831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On March 13, 2020, President Trump announced the elimination of interest on federal student loans on the 42 million Americans with more than a total of $1.5 trillion outstanding in loans (Stratford, 2020).  The following week, the US. Department of Education announced the suspension of payments for two months, which has now turned into more than three years (Custer, 2022). </a:t>
            </a:r>
            <a:endParaRPr lang="en-US" dirty="0"/>
          </a:p>
        </p:txBody>
      </p:sp>
      <p:sp>
        <p:nvSpPr>
          <p:cNvPr id="4" name="Slide Number Placeholder 3"/>
          <p:cNvSpPr>
            <a:spLocks noGrp="1"/>
          </p:cNvSpPr>
          <p:nvPr>
            <p:ph type="sldNum" sz="quarter" idx="5"/>
          </p:nvPr>
        </p:nvSpPr>
        <p:spPr/>
        <p:txBody>
          <a:bodyPr/>
          <a:lstStyle/>
          <a:p>
            <a:fld id="{095042DA-3BEB-432C-BA71-42ECBA2500F9}" type="slidenum">
              <a:rPr lang="en-US" smtClean="0"/>
              <a:t>6</a:t>
            </a:fld>
            <a:endParaRPr lang="en-US"/>
          </a:p>
        </p:txBody>
      </p:sp>
    </p:spTree>
    <p:extLst>
      <p:ext uri="{BB962C8B-B14F-4D97-AF65-F5344CB8AC3E}">
        <p14:creationId xmlns:p14="http://schemas.microsoft.com/office/powerpoint/2010/main" val="1331476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Federal government adjusted the Public Service Loan Forgiveness (PSLF) waver to allow more people to qualify for that student loan discharge program.  The income-driven repayment method was adjusted to make payments, when resumed, more affordable.  Additionally, students who attended institutions where they misled, defrauded or lied were granted automatic discharge of their loans.  The President was also pushing for a flat rate discharge for loan holders but that got stopped by the supreme court. For those with student loans, when you look at the percentage that have payments compared to the amount of the payment, you can see that higher income households have fewer loans but those that do have a higher loan amount.</a:t>
            </a:r>
            <a:endParaRPr lang="en-US" dirty="0"/>
          </a:p>
        </p:txBody>
      </p:sp>
      <p:sp>
        <p:nvSpPr>
          <p:cNvPr id="4" name="Slide Number Placeholder 3"/>
          <p:cNvSpPr>
            <a:spLocks noGrp="1"/>
          </p:cNvSpPr>
          <p:nvPr>
            <p:ph type="sldNum" sz="quarter" idx="5"/>
          </p:nvPr>
        </p:nvSpPr>
        <p:spPr/>
        <p:txBody>
          <a:bodyPr/>
          <a:lstStyle/>
          <a:p>
            <a:fld id="{095042DA-3BEB-432C-BA71-42ECBA2500F9}" type="slidenum">
              <a:rPr lang="en-US" smtClean="0"/>
              <a:t>7</a:t>
            </a:fld>
            <a:endParaRPr lang="en-US"/>
          </a:p>
        </p:txBody>
      </p:sp>
    </p:spTree>
    <p:extLst>
      <p:ext uri="{BB962C8B-B14F-4D97-AF65-F5344CB8AC3E}">
        <p14:creationId xmlns:p14="http://schemas.microsoft.com/office/powerpoint/2010/main" val="3492786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680304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67366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16829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97452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29736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80108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3657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417852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175466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69443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66186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7/21/2023</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615276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7/21/2023</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2896633568"/>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45" r:id="rId6"/>
    <p:sldLayoutId id="2147483740" r:id="rId7"/>
    <p:sldLayoutId id="2147483741" r:id="rId8"/>
    <p:sldLayoutId id="2147483742" r:id="rId9"/>
    <p:sldLayoutId id="2147483743" r:id="rId10"/>
    <p:sldLayoutId id="2147483744" r:id="rId11"/>
    <p:sldLayoutId id="2147483746"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crfb.org/blogs/whats-final-covid-relief-deal-2020" TargetMode="External"/><Relationship Id="rId13" Type="http://schemas.openxmlformats.org/officeDocument/2006/relationships/hyperlink" Target="https://www.kff.org/global-health-policy/issue-brief/the-u-s-response-to-coronavirus-summary-of-the-coronavirus-preparedness-and-response-supplemental-appropriations-act-2020/" TargetMode="External"/><Relationship Id="rId18" Type="http://schemas.openxmlformats.org/officeDocument/2006/relationships/hyperlink" Target="https://doi.org/10.1101/2020.11.27.20240051" TargetMode="External"/><Relationship Id="rId3" Type="http://schemas.openxmlformats.org/officeDocument/2006/relationships/hyperlink" Target="file:///G:\My%20Drive\College\Caitie\DSC500-T301\10.1073\pnas.2006991117" TargetMode="External"/><Relationship Id="rId21" Type="http://schemas.openxmlformats.org/officeDocument/2006/relationships/hyperlink" Target="https://www.politico.com/news/2020/03/13/trump-administration-student-loan-payments-suspension-128181" TargetMode="External"/><Relationship Id="rId7" Type="http://schemas.openxmlformats.org/officeDocument/2006/relationships/hyperlink" Target="https://covid.cdc.gov/covid-data-tracker/#vaccinations_vacc-total-admin-rate-total" TargetMode="External"/><Relationship Id="rId12" Type="http://schemas.openxmlformats.org/officeDocument/2006/relationships/hyperlink" Target="https://trends.google.com/trends/explore?date=today%203-m&amp;geo=US&amp;q=millions%20lose%20medicaid%20coverage" TargetMode="External"/><Relationship Id="rId17" Type="http://schemas.openxmlformats.org/officeDocument/2006/relationships/hyperlink" Target="https://academic.oup.com/eurpub/article/31/Supplement_4/iv50/6423457" TargetMode="External"/><Relationship Id="rId25" Type="http://schemas.openxmlformats.org/officeDocument/2006/relationships/hyperlink" Target="https://www.who.int/health-topics/coronavirus#tab=tab_1" TargetMode="External"/><Relationship Id="rId2" Type="http://schemas.openxmlformats.org/officeDocument/2006/relationships/image" Target="../media/image1.jpeg"/><Relationship Id="rId16" Type="http://schemas.openxmlformats.org/officeDocument/2006/relationships/hyperlink" Target="https://www.kff.org/medicaid/issue-brief/10-things-to-know-about-the-unwinding-of-the-medicaid-continuous-enrollment-provision/" TargetMode="External"/><Relationship Id="rId20" Type="http://schemas.openxmlformats.org/officeDocument/2006/relationships/hyperlink" Target="https://www.pnas.org/doi/10.1073/pnas.2006991117" TargetMode="External"/><Relationship Id="rId1" Type="http://schemas.openxmlformats.org/officeDocument/2006/relationships/slideLayout" Target="../slideLayouts/slideLayout1.xml"/><Relationship Id="rId6" Type="http://schemas.openxmlformats.org/officeDocument/2006/relationships/hyperlink" Target="https://www.cdc.gov/museum/timeline/covid19.html" TargetMode="External"/><Relationship Id="rId11" Type="http://schemas.openxmlformats.org/officeDocument/2006/relationships/hyperlink" Target="https://studentaid.gov/announcements-events/covid-19/payment-pause-zero-interest" TargetMode="External"/><Relationship Id="rId24" Type="http://schemas.openxmlformats.org/officeDocument/2006/relationships/hyperlink" Target="https://www.whitehouse.gov/briefing-room/statements-releases/2022/03/15/fact-sheet-consequences-of-lack-of-funding-for-efforts-to-combat-covid-19-if-congress-does-not-act/" TargetMode="External"/><Relationship Id="rId5" Type="http://schemas.openxmlformats.org/officeDocument/2006/relationships/hyperlink" Target="https://www.cbpp.org/research/health/unwinding-the-medicaid-continuous-coverage-requirement" TargetMode="External"/><Relationship Id="rId15" Type="http://schemas.openxmlformats.org/officeDocument/2006/relationships/hyperlink" Target="https://www.kff.org/coronavirus-covid-19/issue-brief/the-coronavirus-aid-relief-and-economic-security-act-summary-of-key-health-provisions/" TargetMode="External"/><Relationship Id="rId23" Type="http://schemas.openxmlformats.org/officeDocument/2006/relationships/hyperlink" Target="https://www.hhs.gov/about/news/2023/05/09/fact-sheet-end-of-the-covid-19-public-health-emergency.html" TargetMode="External"/><Relationship Id="rId10" Type="http://schemas.openxmlformats.org/officeDocument/2006/relationships/hyperlink" Target="https://www.americanprogress.org/article/timeline-federal-student-loans-during-the-covid-19-pandemic/" TargetMode="External"/><Relationship Id="rId19" Type="http://schemas.openxmlformats.org/officeDocument/2006/relationships/hyperlink" Target="https://www.ncbi.nlm.nih.gov/pmc/articles/PMC7709178/" TargetMode="External"/><Relationship Id="rId4" Type="http://schemas.openxmlformats.org/officeDocument/2006/relationships/hyperlink" Target="https://www.ncbi.nlm.nih.gov/pmc/articles/PMC7395529/" TargetMode="External"/><Relationship Id="rId9" Type="http://schemas.openxmlformats.org/officeDocument/2006/relationships/hyperlink" Target="https://www.crfb.org/blogs/breaking-down-34-trillion-covid-relief#:~:text=Of%20the%20%243.4%20trillion%20in,from%20the%20other%20two%20bills" TargetMode="External"/><Relationship Id="rId14" Type="http://schemas.openxmlformats.org/officeDocument/2006/relationships/hyperlink" Target="https://www.kff.org/global-health-policy/issue-brief/the-families-first-coronavirus-response-act-summary-of-key-provisions/" TargetMode="External"/><Relationship Id="rId22" Type="http://schemas.openxmlformats.org/officeDocument/2006/relationships/hyperlink" Target="https://www.brookings.edu/articles/student-loan-pause-has-benefitted-affluent-borrowers-the-most-others-may-struggle-when-payments-resum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F187B58-3857-4454-9C70-EFB475976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CE9A3A63-DBEA-11E8-F316-3F31D811B4DE}"/>
              </a:ext>
            </a:extLst>
          </p:cNvPr>
          <p:cNvPicPr>
            <a:picLocks noChangeAspect="1"/>
          </p:cNvPicPr>
          <p:nvPr/>
        </p:nvPicPr>
        <p:blipFill rotWithShape="1">
          <a:blip r:embed="rId2"/>
          <a:srcRect t="15730"/>
          <a:stretch/>
        </p:blipFill>
        <p:spPr>
          <a:xfrm>
            <a:off x="20" y="10"/>
            <a:ext cx="12191980" cy="6857990"/>
          </a:xfrm>
          <a:prstGeom prst="rect">
            <a:avLst/>
          </a:prstGeom>
        </p:spPr>
      </p:pic>
      <p:sp>
        <p:nvSpPr>
          <p:cNvPr id="23" name="Freeform: Shape 22">
            <a:extLst>
              <a:ext uri="{FF2B5EF4-FFF2-40B4-BE49-F238E27FC236}">
                <a16:creationId xmlns:a16="http://schemas.microsoft.com/office/drawing/2014/main" id="{4C5418A4-3935-49EA-B51C-5DDCBFAA3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8056" y="2813365"/>
            <a:ext cx="7450687" cy="3406460"/>
          </a:xfrm>
          <a:custGeom>
            <a:avLst/>
            <a:gdLst>
              <a:gd name="connsiteX0" fmla="*/ 6457914 w 7450687"/>
              <a:gd name="connsiteY0" fmla="*/ 0 h 3406460"/>
              <a:gd name="connsiteX1" fmla="*/ 6844288 w 7450687"/>
              <a:gd name="connsiteY1" fmla="*/ 233492 h 3406460"/>
              <a:gd name="connsiteX2" fmla="*/ 7386323 w 7450687"/>
              <a:gd name="connsiteY2" fmla="*/ 717155 h 3406460"/>
              <a:gd name="connsiteX3" fmla="*/ 7430798 w 7450687"/>
              <a:gd name="connsiteY3" fmla="*/ 1809564 h 3406460"/>
              <a:gd name="connsiteX4" fmla="*/ 7013848 w 7450687"/>
              <a:gd name="connsiteY4" fmla="*/ 3104890 h 3406460"/>
              <a:gd name="connsiteX5" fmla="*/ 6569101 w 7450687"/>
              <a:gd name="connsiteY5" fmla="*/ 3402314 h 3406460"/>
              <a:gd name="connsiteX6" fmla="*/ 3683807 w 7450687"/>
              <a:gd name="connsiteY6" fmla="*/ 3341162 h 3406460"/>
              <a:gd name="connsiteX7" fmla="*/ 1704683 w 7450687"/>
              <a:gd name="connsiteY7" fmla="*/ 2860279 h 3406460"/>
              <a:gd name="connsiteX8" fmla="*/ 2010446 w 7450687"/>
              <a:gd name="connsiteY8" fmla="*/ 2801907 h 3406460"/>
              <a:gd name="connsiteX9" fmla="*/ 1273834 w 7450687"/>
              <a:gd name="connsiteY9" fmla="*/ 2674041 h 3406460"/>
              <a:gd name="connsiteX10" fmla="*/ 1315530 w 7450687"/>
              <a:gd name="connsiteY10" fmla="*/ 2657363 h 3406460"/>
              <a:gd name="connsiteX11" fmla="*/ 1234919 w 7450687"/>
              <a:gd name="connsiteY11" fmla="*/ 2590651 h 3406460"/>
              <a:gd name="connsiteX12" fmla="*/ 904138 w 7450687"/>
              <a:gd name="connsiteY12" fmla="*/ 2485024 h 3406460"/>
              <a:gd name="connsiteX13" fmla="*/ 1315530 w 7450687"/>
              <a:gd name="connsiteY13" fmla="*/ 2307126 h 3406460"/>
              <a:gd name="connsiteX14" fmla="*/ 851326 w 7450687"/>
              <a:gd name="connsiteY14" fmla="*/ 2065294 h 3406460"/>
              <a:gd name="connsiteX15" fmla="*/ 615053 w 7450687"/>
              <a:gd name="connsiteY15" fmla="*/ 2006921 h 3406460"/>
              <a:gd name="connsiteX16" fmla="*/ 1393361 w 7450687"/>
              <a:gd name="connsiteY16" fmla="*/ 1703937 h 3406460"/>
              <a:gd name="connsiteX17" fmla="*/ 131391 w 7450687"/>
              <a:gd name="connsiteY17" fmla="*/ 1553835 h 3406460"/>
              <a:gd name="connsiteX18" fmla="*/ 234239 w 7450687"/>
              <a:gd name="connsiteY18" fmla="*/ 1492682 h 3406460"/>
              <a:gd name="connsiteX19" fmla="*/ 1018105 w 7450687"/>
              <a:gd name="connsiteY19" fmla="*/ 1509360 h 3406460"/>
              <a:gd name="connsiteX20" fmla="*/ 1148750 w 7450687"/>
              <a:gd name="connsiteY20" fmla="*/ 1462106 h 3406460"/>
              <a:gd name="connsiteX21" fmla="*/ 1018105 w 7450687"/>
              <a:gd name="connsiteY21" fmla="*/ 1387055 h 3406460"/>
              <a:gd name="connsiteX22" fmla="*/ 509426 w 7450687"/>
              <a:gd name="connsiteY22" fmla="*/ 1331461 h 3406460"/>
              <a:gd name="connsiteX23" fmla="*/ 376002 w 7450687"/>
              <a:gd name="connsiteY23" fmla="*/ 1206376 h 3406460"/>
              <a:gd name="connsiteX24" fmla="*/ 150849 w 7450687"/>
              <a:gd name="connsiteY24" fmla="*/ 1061833 h 3406460"/>
              <a:gd name="connsiteX25" fmla="*/ 306510 w 7450687"/>
              <a:gd name="connsiteY25" fmla="*/ 942308 h 3406460"/>
              <a:gd name="connsiteX26" fmla="*/ 53560 w 7450687"/>
              <a:gd name="connsiteY26" fmla="*/ 764409 h 3406460"/>
              <a:gd name="connsiteX27" fmla="*/ 125832 w 7450687"/>
              <a:gd name="connsiteY27" fmla="*/ 530917 h 3406460"/>
              <a:gd name="connsiteX28" fmla="*/ 551121 w 7450687"/>
              <a:gd name="connsiteY28" fmla="*/ 475324 h 3406460"/>
              <a:gd name="connsiteX29" fmla="*/ 1120952 w 7450687"/>
              <a:gd name="connsiteY29" fmla="*/ 394713 h 3406460"/>
              <a:gd name="connsiteX30" fmla="*/ 1693564 w 7450687"/>
              <a:gd name="connsiteY30" fmla="*/ 325221 h 3406460"/>
              <a:gd name="connsiteX31" fmla="*/ 2266175 w 7450687"/>
              <a:gd name="connsiteY31" fmla="*/ 325221 h 3406460"/>
              <a:gd name="connsiteX32" fmla="*/ 2430177 w 7450687"/>
              <a:gd name="connsiteY32" fmla="*/ 330781 h 3406460"/>
              <a:gd name="connsiteX33" fmla="*/ 2432956 w 7450687"/>
              <a:gd name="connsiteY33" fmla="*/ 330781 h 3406460"/>
              <a:gd name="connsiteX34" fmla="*/ 3144551 w 7450687"/>
              <a:gd name="connsiteY34" fmla="*/ 355798 h 3406460"/>
              <a:gd name="connsiteX35" fmla="*/ 3408619 w 7450687"/>
              <a:gd name="connsiteY35" fmla="*/ 358577 h 3406460"/>
              <a:gd name="connsiteX36" fmla="*/ 3981231 w 7450687"/>
              <a:gd name="connsiteY36" fmla="*/ 361357 h 3406460"/>
              <a:gd name="connsiteX37" fmla="*/ 4551063 w 7450687"/>
              <a:gd name="connsiteY37" fmla="*/ 350238 h 3406460"/>
              <a:gd name="connsiteX38" fmla="*/ 5129233 w 7450687"/>
              <a:gd name="connsiteY38" fmla="*/ 316882 h 3406460"/>
              <a:gd name="connsiteX39" fmla="*/ 5699065 w 7450687"/>
              <a:gd name="connsiteY39" fmla="*/ 272407 h 3406460"/>
              <a:gd name="connsiteX40" fmla="*/ 6063202 w 7450687"/>
              <a:gd name="connsiteY40" fmla="*/ 172339 h 3406460"/>
              <a:gd name="connsiteX41" fmla="*/ 6457914 w 7450687"/>
              <a:gd name="connsiteY41" fmla="*/ 0 h 3406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450687" h="3406460">
                <a:moveTo>
                  <a:pt x="6457914" y="0"/>
                </a:moveTo>
                <a:cubicBezTo>
                  <a:pt x="6560763" y="125085"/>
                  <a:pt x="6713644" y="161221"/>
                  <a:pt x="6844288" y="233492"/>
                </a:cubicBezTo>
                <a:cubicBezTo>
                  <a:pt x="6972153" y="289086"/>
                  <a:pt x="7336289" y="611527"/>
                  <a:pt x="7386323" y="717155"/>
                </a:cubicBezTo>
                <a:cubicBezTo>
                  <a:pt x="7475273" y="900613"/>
                  <a:pt x="7453035" y="1573293"/>
                  <a:pt x="7430798" y="1809564"/>
                </a:cubicBezTo>
                <a:cubicBezTo>
                  <a:pt x="7347408" y="2398855"/>
                  <a:pt x="7041645" y="3077093"/>
                  <a:pt x="7013848" y="3104890"/>
                </a:cubicBezTo>
                <a:cubicBezTo>
                  <a:pt x="6924899" y="3085432"/>
                  <a:pt x="6721983" y="3391196"/>
                  <a:pt x="6569101" y="3402314"/>
                </a:cubicBezTo>
                <a:cubicBezTo>
                  <a:pt x="6407881" y="3413434"/>
                  <a:pt x="4039604" y="3405095"/>
                  <a:pt x="3683807" y="3341162"/>
                </a:cubicBezTo>
                <a:cubicBezTo>
                  <a:pt x="1749158" y="2988144"/>
                  <a:pt x="1704683" y="2860279"/>
                  <a:pt x="1704683" y="2860279"/>
                </a:cubicBezTo>
                <a:cubicBezTo>
                  <a:pt x="1704683" y="2860279"/>
                  <a:pt x="1910378" y="2835262"/>
                  <a:pt x="2010446" y="2801907"/>
                </a:cubicBezTo>
                <a:cubicBezTo>
                  <a:pt x="1865904" y="2799126"/>
                  <a:pt x="1296072" y="2693500"/>
                  <a:pt x="1273834" y="2674041"/>
                </a:cubicBezTo>
                <a:cubicBezTo>
                  <a:pt x="1284954" y="2668482"/>
                  <a:pt x="1301632" y="2662923"/>
                  <a:pt x="1315530" y="2657363"/>
                </a:cubicBezTo>
                <a:cubicBezTo>
                  <a:pt x="1284954" y="2640686"/>
                  <a:pt x="1259936" y="2621228"/>
                  <a:pt x="1234919" y="2590651"/>
                </a:cubicBezTo>
                <a:cubicBezTo>
                  <a:pt x="1154309" y="2487804"/>
                  <a:pt x="1018105" y="2523940"/>
                  <a:pt x="904138" y="2485024"/>
                </a:cubicBezTo>
                <a:cubicBezTo>
                  <a:pt x="976410" y="2268210"/>
                  <a:pt x="1168208" y="2348820"/>
                  <a:pt x="1315530" y="2307126"/>
                </a:cubicBezTo>
                <a:cubicBezTo>
                  <a:pt x="929156" y="2179260"/>
                  <a:pt x="1004207" y="2112548"/>
                  <a:pt x="851326" y="2065294"/>
                </a:cubicBezTo>
                <a:cubicBezTo>
                  <a:pt x="659528" y="2006921"/>
                  <a:pt x="615053" y="2006921"/>
                  <a:pt x="615053" y="2006921"/>
                </a:cubicBezTo>
                <a:cubicBezTo>
                  <a:pt x="840206" y="1829023"/>
                  <a:pt x="1109834" y="2020820"/>
                  <a:pt x="1393361" y="1703937"/>
                </a:cubicBezTo>
                <a:cubicBezTo>
                  <a:pt x="1120952" y="1659463"/>
                  <a:pt x="306510" y="1637225"/>
                  <a:pt x="131391" y="1553835"/>
                </a:cubicBezTo>
                <a:cubicBezTo>
                  <a:pt x="198103" y="1584411"/>
                  <a:pt x="203663" y="1492682"/>
                  <a:pt x="234239" y="1492682"/>
                </a:cubicBezTo>
                <a:cubicBezTo>
                  <a:pt x="492748" y="1489903"/>
                  <a:pt x="756816" y="1542717"/>
                  <a:pt x="1018105" y="1509360"/>
                </a:cubicBezTo>
                <a:cubicBezTo>
                  <a:pt x="1065359" y="1506581"/>
                  <a:pt x="1140411" y="1531597"/>
                  <a:pt x="1148750" y="1462106"/>
                </a:cubicBezTo>
                <a:cubicBezTo>
                  <a:pt x="1157088" y="1375936"/>
                  <a:pt x="1059800" y="1395394"/>
                  <a:pt x="1018105" y="1387055"/>
                </a:cubicBezTo>
                <a:cubicBezTo>
                  <a:pt x="848545" y="1359258"/>
                  <a:pt x="681766" y="1348140"/>
                  <a:pt x="509426" y="1331461"/>
                </a:cubicBezTo>
                <a:cubicBezTo>
                  <a:pt x="437155" y="1323122"/>
                  <a:pt x="348206" y="1339800"/>
                  <a:pt x="376002" y="1206376"/>
                </a:cubicBezTo>
                <a:cubicBezTo>
                  <a:pt x="353764" y="1078512"/>
                  <a:pt x="220341" y="1122986"/>
                  <a:pt x="150849" y="1061833"/>
                </a:cubicBezTo>
                <a:cubicBezTo>
                  <a:pt x="184205" y="989562"/>
                  <a:pt x="278714" y="1039597"/>
                  <a:pt x="306510" y="942308"/>
                </a:cubicBezTo>
                <a:cubicBezTo>
                  <a:pt x="173086" y="972884"/>
                  <a:pt x="186985" y="761630"/>
                  <a:pt x="53560" y="764409"/>
                </a:cubicBezTo>
                <a:cubicBezTo>
                  <a:pt x="-57626" y="639324"/>
                  <a:pt x="22984" y="578171"/>
                  <a:pt x="125832" y="530917"/>
                </a:cubicBezTo>
                <a:cubicBezTo>
                  <a:pt x="259256" y="472544"/>
                  <a:pt x="406578" y="486442"/>
                  <a:pt x="551121" y="475324"/>
                </a:cubicBezTo>
                <a:cubicBezTo>
                  <a:pt x="742919" y="450306"/>
                  <a:pt x="926376" y="391934"/>
                  <a:pt x="1120952" y="394713"/>
                </a:cubicBezTo>
                <a:cubicBezTo>
                  <a:pt x="1304411" y="336340"/>
                  <a:pt x="1507326" y="400272"/>
                  <a:pt x="1693564" y="325221"/>
                </a:cubicBezTo>
                <a:cubicBezTo>
                  <a:pt x="1882582" y="325221"/>
                  <a:pt x="2074379" y="325221"/>
                  <a:pt x="2266175" y="325221"/>
                </a:cubicBezTo>
                <a:cubicBezTo>
                  <a:pt x="2321770" y="328001"/>
                  <a:pt x="2374582" y="328001"/>
                  <a:pt x="2430177" y="330781"/>
                </a:cubicBezTo>
                <a:cubicBezTo>
                  <a:pt x="2430177" y="330781"/>
                  <a:pt x="2432956" y="330781"/>
                  <a:pt x="2432956" y="330781"/>
                </a:cubicBezTo>
                <a:cubicBezTo>
                  <a:pt x="2672008" y="339120"/>
                  <a:pt x="2908279" y="344679"/>
                  <a:pt x="3144551" y="355798"/>
                </a:cubicBezTo>
                <a:cubicBezTo>
                  <a:pt x="3233500" y="355798"/>
                  <a:pt x="3319670" y="358577"/>
                  <a:pt x="3408619" y="358577"/>
                </a:cubicBezTo>
                <a:cubicBezTo>
                  <a:pt x="3597637" y="372475"/>
                  <a:pt x="3789434" y="380814"/>
                  <a:pt x="3981231" y="361357"/>
                </a:cubicBezTo>
                <a:cubicBezTo>
                  <a:pt x="4173028" y="378035"/>
                  <a:pt x="4359266" y="366917"/>
                  <a:pt x="4551063" y="350238"/>
                </a:cubicBezTo>
                <a:cubicBezTo>
                  <a:pt x="4745639" y="369696"/>
                  <a:pt x="4937437" y="341899"/>
                  <a:pt x="5129233" y="316882"/>
                </a:cubicBezTo>
                <a:cubicBezTo>
                  <a:pt x="5321031" y="328001"/>
                  <a:pt x="5512828" y="328001"/>
                  <a:pt x="5699065" y="272407"/>
                </a:cubicBezTo>
                <a:cubicBezTo>
                  <a:pt x="5840829" y="333560"/>
                  <a:pt x="5910321" y="133424"/>
                  <a:pt x="6063202" y="172339"/>
                </a:cubicBezTo>
                <a:cubicBezTo>
                  <a:pt x="6216084" y="214035"/>
                  <a:pt x="6324491" y="55593"/>
                  <a:pt x="6457914" y="0"/>
                </a:cubicBezTo>
                <a:close/>
              </a:path>
            </a:pathLst>
          </a:cu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D60324-1B47-D1B2-9C23-96EA2DB1CD8A}"/>
              </a:ext>
            </a:extLst>
          </p:cNvPr>
          <p:cNvSpPr>
            <a:spLocks noGrp="1"/>
          </p:cNvSpPr>
          <p:nvPr>
            <p:ph type="ctrTitle"/>
          </p:nvPr>
        </p:nvSpPr>
        <p:spPr>
          <a:xfrm>
            <a:off x="6438986" y="3547277"/>
            <a:ext cx="4452181" cy="1341624"/>
          </a:xfrm>
        </p:spPr>
        <p:txBody>
          <a:bodyPr anchor="b">
            <a:normAutofit/>
          </a:bodyPr>
          <a:lstStyle/>
          <a:p>
            <a:r>
              <a:rPr lang="en-US" sz="4000"/>
              <a:t>COVID-19</a:t>
            </a:r>
          </a:p>
        </p:txBody>
      </p:sp>
      <p:sp>
        <p:nvSpPr>
          <p:cNvPr id="3" name="Subtitle 2">
            <a:extLst>
              <a:ext uri="{FF2B5EF4-FFF2-40B4-BE49-F238E27FC236}">
                <a16:creationId xmlns:a16="http://schemas.microsoft.com/office/drawing/2014/main" id="{D7BC679D-3C35-51BA-7096-138F4250C5EB}"/>
              </a:ext>
            </a:extLst>
          </p:cNvPr>
          <p:cNvSpPr>
            <a:spLocks noGrp="1"/>
          </p:cNvSpPr>
          <p:nvPr>
            <p:ph type="subTitle" idx="1"/>
          </p:nvPr>
        </p:nvSpPr>
        <p:spPr>
          <a:xfrm>
            <a:off x="6565110" y="4945656"/>
            <a:ext cx="3957144" cy="646785"/>
          </a:xfrm>
        </p:spPr>
        <p:txBody>
          <a:bodyPr>
            <a:normAutofit/>
          </a:bodyPr>
          <a:lstStyle/>
          <a:p>
            <a:pPr>
              <a:lnSpc>
                <a:spcPct val="90000"/>
              </a:lnSpc>
            </a:pPr>
            <a:r>
              <a:rPr lang="en-US" sz="1300"/>
              <a:t>Does the end of the pandemic and COVID programs hurt citizens more than the benefits provided ruing the pandemic</a:t>
            </a:r>
          </a:p>
        </p:txBody>
      </p:sp>
    </p:spTree>
    <p:extLst>
      <p:ext uri="{BB962C8B-B14F-4D97-AF65-F5344CB8AC3E}">
        <p14:creationId xmlns:p14="http://schemas.microsoft.com/office/powerpoint/2010/main" val="325134897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8AB-25F1-C25C-0E36-AC5F6F11C10E}"/>
              </a:ext>
            </a:extLst>
          </p:cNvPr>
          <p:cNvSpPr>
            <a:spLocks noGrp="1"/>
          </p:cNvSpPr>
          <p:nvPr>
            <p:ph type="ctrTitle"/>
          </p:nvPr>
        </p:nvSpPr>
        <p:spPr>
          <a:xfrm>
            <a:off x="1619697" y="1659294"/>
            <a:ext cx="9459685" cy="4347101"/>
          </a:xfrm>
        </p:spPr>
        <p:txBody>
          <a:bodyPr>
            <a:normAutofit fontScale="90000"/>
          </a:bodyPr>
          <a:lstStyle/>
          <a:p>
            <a:r>
              <a:rPr lang="en-US" dirty="0"/>
              <a:t>Research Theory:</a:t>
            </a:r>
            <a:br>
              <a:rPr lang="en-US" dirty="0"/>
            </a:br>
            <a:br>
              <a:rPr lang="en-US" dirty="0"/>
            </a:br>
            <a:r>
              <a:rPr lang="en-US" dirty="0"/>
              <a:t>Is the official end of the COVID-19 Public Health Emergency (PHE) and removal of its associated benefits going to hurt US Citizens more than the benefits they provided during the three-year pandemic?</a:t>
            </a:r>
          </a:p>
        </p:txBody>
      </p:sp>
    </p:spTree>
    <p:extLst>
      <p:ext uri="{BB962C8B-B14F-4D97-AF65-F5344CB8AC3E}">
        <p14:creationId xmlns:p14="http://schemas.microsoft.com/office/powerpoint/2010/main" val="31313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8AB-25F1-C25C-0E36-AC5F6F11C10E}"/>
              </a:ext>
            </a:extLst>
          </p:cNvPr>
          <p:cNvSpPr>
            <a:spLocks noGrp="1"/>
          </p:cNvSpPr>
          <p:nvPr>
            <p:ph type="title"/>
          </p:nvPr>
        </p:nvSpPr>
        <p:spPr/>
        <p:txBody>
          <a:bodyPr>
            <a:normAutofit fontScale="90000"/>
          </a:bodyPr>
          <a:lstStyle/>
          <a:p>
            <a:r>
              <a:rPr lang="en-US" dirty="0"/>
              <a:t>1.  The Medicaid Unwind will remove people from health care that really need it.</a:t>
            </a:r>
          </a:p>
        </p:txBody>
      </p:sp>
      <p:sp>
        <p:nvSpPr>
          <p:cNvPr id="3" name="Content Placeholder 2">
            <a:extLst>
              <a:ext uri="{FF2B5EF4-FFF2-40B4-BE49-F238E27FC236}">
                <a16:creationId xmlns:a16="http://schemas.microsoft.com/office/drawing/2014/main" id="{600BAC91-CBB7-6396-8CE3-A501487E3D96}"/>
              </a:ext>
            </a:extLst>
          </p:cNvPr>
          <p:cNvSpPr>
            <a:spLocks noGrp="1"/>
          </p:cNvSpPr>
          <p:nvPr>
            <p:ph idx="1"/>
          </p:nvPr>
        </p:nvSpPr>
        <p:spPr/>
        <p:txBody>
          <a:bodyPr>
            <a:normAutofit lnSpcReduction="10000"/>
          </a:bodyPr>
          <a:lstStyle/>
          <a:p>
            <a:r>
              <a:rPr lang="en-US" dirty="0"/>
              <a:t>People on Medicaid that no longer qualify will be removed from coverage – leaving them without healthcare.</a:t>
            </a:r>
          </a:p>
          <a:p>
            <a:r>
              <a:rPr lang="en-US" dirty="0"/>
              <a:t>An estimated 7-24 million citizens nationwide could lose coverage.</a:t>
            </a:r>
          </a:p>
          <a:p>
            <a:r>
              <a:rPr lang="en-US" dirty="0"/>
              <a:t>Vulnerable populations and those that do not speak English as their primary languages are at higher risk of losing coverage due to limited resource available to assist them.</a:t>
            </a:r>
          </a:p>
          <a:p>
            <a:endParaRPr lang="en-US" dirty="0"/>
          </a:p>
        </p:txBody>
      </p:sp>
    </p:spTree>
    <p:extLst>
      <p:ext uri="{BB962C8B-B14F-4D97-AF65-F5344CB8AC3E}">
        <p14:creationId xmlns:p14="http://schemas.microsoft.com/office/powerpoint/2010/main" val="351625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8AB-25F1-C25C-0E36-AC5F6F11C10E}"/>
              </a:ext>
            </a:extLst>
          </p:cNvPr>
          <p:cNvSpPr>
            <a:spLocks noGrp="1"/>
          </p:cNvSpPr>
          <p:nvPr>
            <p:ph type="title"/>
          </p:nvPr>
        </p:nvSpPr>
        <p:spPr>
          <a:xfrm>
            <a:off x="839787" y="640080"/>
            <a:ext cx="4489704" cy="2953512"/>
          </a:xfrm>
        </p:spPr>
        <p:txBody>
          <a:bodyPr>
            <a:noAutofit/>
          </a:bodyPr>
          <a:lstStyle/>
          <a:p>
            <a:r>
              <a:rPr lang="en-US" sz="4000" dirty="0"/>
              <a:t>2.  Not having free vaccinations available to all will increase disease spread.</a:t>
            </a:r>
          </a:p>
        </p:txBody>
      </p:sp>
      <p:sp>
        <p:nvSpPr>
          <p:cNvPr id="3" name="Content Placeholder 2">
            <a:extLst>
              <a:ext uri="{FF2B5EF4-FFF2-40B4-BE49-F238E27FC236}">
                <a16:creationId xmlns:a16="http://schemas.microsoft.com/office/drawing/2014/main" id="{600BAC91-CBB7-6396-8CE3-A501487E3D96}"/>
              </a:ext>
            </a:extLst>
          </p:cNvPr>
          <p:cNvSpPr>
            <a:spLocks noGrp="1"/>
          </p:cNvSpPr>
          <p:nvPr>
            <p:ph idx="1"/>
          </p:nvPr>
        </p:nvSpPr>
        <p:spPr/>
        <p:txBody>
          <a:bodyPr>
            <a:normAutofit/>
          </a:bodyPr>
          <a:lstStyle/>
          <a:p>
            <a:r>
              <a:rPr lang="en-US" dirty="0"/>
              <a:t>Many citizens will not have Medicaid.</a:t>
            </a:r>
          </a:p>
          <a:p>
            <a:r>
              <a:rPr lang="en-US" dirty="0"/>
              <a:t>Vulnerable populations will not be able to get vaccinated.</a:t>
            </a:r>
          </a:p>
          <a:p>
            <a:r>
              <a:rPr lang="en-US" dirty="0"/>
              <a:t>Cost will become a factor in virus spread control.</a:t>
            </a:r>
          </a:p>
          <a:p>
            <a:endParaRPr lang="en-US" dirty="0"/>
          </a:p>
        </p:txBody>
      </p:sp>
      <p:pic>
        <p:nvPicPr>
          <p:cNvPr id="6" name="Picture 5">
            <a:extLst>
              <a:ext uri="{FF2B5EF4-FFF2-40B4-BE49-F238E27FC236}">
                <a16:creationId xmlns:a16="http://schemas.microsoft.com/office/drawing/2014/main" id="{0BCF3B36-6523-ABCF-1E5E-748F8775C759}"/>
              </a:ext>
            </a:extLst>
          </p:cNvPr>
          <p:cNvPicPr>
            <a:picLocks noChangeAspect="1"/>
          </p:cNvPicPr>
          <p:nvPr/>
        </p:nvPicPr>
        <p:blipFill>
          <a:blip r:embed="rId3"/>
          <a:stretch>
            <a:fillRect/>
          </a:stretch>
        </p:blipFill>
        <p:spPr>
          <a:xfrm>
            <a:off x="839788" y="3776471"/>
            <a:ext cx="3759508" cy="2411761"/>
          </a:xfrm>
          <a:prstGeom prst="rect">
            <a:avLst/>
          </a:prstGeom>
        </p:spPr>
      </p:pic>
    </p:spTree>
    <p:extLst>
      <p:ext uri="{BB962C8B-B14F-4D97-AF65-F5344CB8AC3E}">
        <p14:creationId xmlns:p14="http://schemas.microsoft.com/office/powerpoint/2010/main" val="762063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2" name="Rectangle 11">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3B038AB-25F1-C25C-0E36-AC5F6F11C10E}"/>
              </a:ext>
            </a:extLst>
          </p:cNvPr>
          <p:cNvSpPr>
            <a:spLocks noGrp="1"/>
          </p:cNvSpPr>
          <p:nvPr>
            <p:ph type="title"/>
          </p:nvPr>
        </p:nvSpPr>
        <p:spPr>
          <a:xfrm>
            <a:off x="643468" y="643467"/>
            <a:ext cx="4620584" cy="3406263"/>
          </a:xfrm>
        </p:spPr>
        <p:txBody>
          <a:bodyPr vert="horz" lIns="91440" tIns="45720" rIns="91440" bIns="45720" rtlCol="0" anchor="b">
            <a:normAutofit/>
          </a:bodyPr>
          <a:lstStyle/>
          <a:p>
            <a:pPr algn="l"/>
            <a:r>
              <a:rPr lang="en-US" sz="4000" dirty="0"/>
              <a:t>3.  The business loans to essential businesses were only a band aid in helping them remain open.</a:t>
            </a:r>
          </a:p>
        </p:txBody>
      </p:sp>
      <p:pic>
        <p:nvPicPr>
          <p:cNvPr id="5" name="Picture 4">
            <a:extLst>
              <a:ext uri="{FF2B5EF4-FFF2-40B4-BE49-F238E27FC236}">
                <a16:creationId xmlns:a16="http://schemas.microsoft.com/office/drawing/2014/main" id="{F82E2797-5AD0-3FE6-9B5A-F12531CD894C}"/>
              </a:ext>
            </a:extLst>
          </p:cNvPr>
          <p:cNvPicPr>
            <a:picLocks noChangeAspect="1"/>
          </p:cNvPicPr>
          <p:nvPr/>
        </p:nvPicPr>
        <p:blipFill>
          <a:blip r:embed="rId3"/>
          <a:stretch>
            <a:fillRect/>
          </a:stretch>
        </p:blipFill>
        <p:spPr>
          <a:xfrm>
            <a:off x="6383608" y="1431396"/>
            <a:ext cx="5635773" cy="4198650"/>
          </a:xfrm>
          <a:prstGeom prst="rect">
            <a:avLst/>
          </a:prstGeom>
        </p:spPr>
      </p:pic>
      <p:sp>
        <p:nvSpPr>
          <p:cNvPr id="6" name="TextBox 5">
            <a:extLst>
              <a:ext uri="{FF2B5EF4-FFF2-40B4-BE49-F238E27FC236}">
                <a16:creationId xmlns:a16="http://schemas.microsoft.com/office/drawing/2014/main" id="{A0696C2B-8F31-405D-D60D-C0A7CD773C41}"/>
              </a:ext>
            </a:extLst>
          </p:cNvPr>
          <p:cNvSpPr txBox="1"/>
          <p:nvPr/>
        </p:nvSpPr>
        <p:spPr>
          <a:xfrm>
            <a:off x="586654" y="4323864"/>
            <a:ext cx="5376132" cy="1200329"/>
          </a:xfrm>
          <a:prstGeom prst="rect">
            <a:avLst/>
          </a:prstGeom>
          <a:noFill/>
        </p:spPr>
        <p:txBody>
          <a:bodyPr wrap="square" rtlCol="0">
            <a:spAutoFit/>
          </a:bodyPr>
          <a:lstStyle/>
          <a:p>
            <a:r>
              <a:rPr lang="en-US" dirty="0"/>
              <a:t>Without the Federal assistance through loans, grants, and the paycheck protection program, many business would have closed by the end of the year.  </a:t>
            </a:r>
          </a:p>
        </p:txBody>
      </p:sp>
      <p:sp>
        <p:nvSpPr>
          <p:cNvPr id="9" name="TextBox 8">
            <a:extLst>
              <a:ext uri="{FF2B5EF4-FFF2-40B4-BE49-F238E27FC236}">
                <a16:creationId xmlns:a16="http://schemas.microsoft.com/office/drawing/2014/main" id="{BE5C838F-E156-3367-4896-D63C857D3708}"/>
              </a:ext>
            </a:extLst>
          </p:cNvPr>
          <p:cNvSpPr txBox="1"/>
          <p:nvPr/>
        </p:nvSpPr>
        <p:spPr>
          <a:xfrm>
            <a:off x="6513428" y="5695942"/>
            <a:ext cx="5376132" cy="461665"/>
          </a:xfrm>
          <a:prstGeom prst="rect">
            <a:avLst/>
          </a:prstGeom>
          <a:noFill/>
        </p:spPr>
        <p:txBody>
          <a:bodyPr wrap="square" rtlCol="0">
            <a:spAutoFit/>
          </a:bodyPr>
          <a:lstStyle/>
          <a:p>
            <a:r>
              <a:rPr lang="en-US" sz="1200" dirty="0"/>
              <a:t>Businesses were surveyed between March 28 – April 4, 2020 regarding the likelihood of being open at the end of 2020.</a:t>
            </a:r>
          </a:p>
        </p:txBody>
      </p:sp>
    </p:spTree>
    <p:extLst>
      <p:ext uri="{BB962C8B-B14F-4D97-AF65-F5344CB8AC3E}">
        <p14:creationId xmlns:p14="http://schemas.microsoft.com/office/powerpoint/2010/main" val="2870293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8AB-25F1-C25C-0E36-AC5F6F11C10E}"/>
              </a:ext>
            </a:extLst>
          </p:cNvPr>
          <p:cNvSpPr>
            <a:spLocks noGrp="1"/>
          </p:cNvSpPr>
          <p:nvPr>
            <p:ph type="title"/>
          </p:nvPr>
        </p:nvSpPr>
        <p:spPr/>
        <p:txBody>
          <a:bodyPr>
            <a:normAutofit/>
          </a:bodyPr>
          <a:lstStyle/>
          <a:p>
            <a:r>
              <a:rPr lang="en-US" dirty="0"/>
              <a:t>4.  Restarting student loan payments will hurt families financially. </a:t>
            </a:r>
          </a:p>
        </p:txBody>
      </p:sp>
      <p:sp>
        <p:nvSpPr>
          <p:cNvPr id="3" name="Content Placeholder 2">
            <a:extLst>
              <a:ext uri="{FF2B5EF4-FFF2-40B4-BE49-F238E27FC236}">
                <a16:creationId xmlns:a16="http://schemas.microsoft.com/office/drawing/2014/main" id="{600BAC91-CBB7-6396-8CE3-A501487E3D96}"/>
              </a:ext>
            </a:extLst>
          </p:cNvPr>
          <p:cNvSpPr>
            <a:spLocks noGrp="1"/>
          </p:cNvSpPr>
          <p:nvPr>
            <p:ph idx="1"/>
          </p:nvPr>
        </p:nvSpPr>
        <p:spPr>
          <a:xfrm>
            <a:off x="838200" y="2011680"/>
            <a:ext cx="10694158" cy="4160520"/>
          </a:xfrm>
        </p:spPr>
        <p:txBody>
          <a:bodyPr>
            <a:normAutofit/>
          </a:bodyPr>
          <a:lstStyle/>
          <a:p>
            <a:pPr marL="514350" indent="-514350">
              <a:buFont typeface="+mj-lt"/>
              <a:buAutoNum type="arabicPeriod"/>
            </a:pPr>
            <a:r>
              <a:rPr lang="en-US" dirty="0"/>
              <a:t>Interest on loans was suspended by the President.</a:t>
            </a:r>
          </a:p>
          <a:p>
            <a:pPr marL="514350" indent="-514350">
              <a:buFont typeface="+mj-lt"/>
              <a:buAutoNum type="arabicPeriod"/>
            </a:pPr>
            <a:r>
              <a:rPr lang="en-US" dirty="0"/>
              <a:t>Payment suspension was announced the following week.</a:t>
            </a:r>
          </a:p>
          <a:p>
            <a:pPr marL="514350" indent="-514350">
              <a:buFont typeface="+mj-lt"/>
              <a:buAutoNum type="arabicPeriod"/>
            </a:pPr>
            <a:r>
              <a:rPr lang="en-US" dirty="0"/>
              <a:t>People have not been making payments for over 3 years.</a:t>
            </a:r>
          </a:p>
          <a:p>
            <a:pPr marL="514350" indent="-514350">
              <a:buFont typeface="+mj-lt"/>
              <a:buAutoNum type="arabicPeriod"/>
            </a:pPr>
            <a:r>
              <a:rPr lang="en-US" dirty="0"/>
              <a:t>Citizens have major concerns about the ability to begin repayment as their financial situation has changed.</a:t>
            </a:r>
          </a:p>
          <a:p>
            <a:endParaRPr lang="en-US" dirty="0"/>
          </a:p>
        </p:txBody>
      </p:sp>
    </p:spTree>
    <p:extLst>
      <p:ext uri="{BB962C8B-B14F-4D97-AF65-F5344CB8AC3E}">
        <p14:creationId xmlns:p14="http://schemas.microsoft.com/office/powerpoint/2010/main" val="354159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8AB-25F1-C25C-0E36-AC5F6F11C10E}"/>
              </a:ext>
            </a:extLst>
          </p:cNvPr>
          <p:cNvSpPr>
            <a:spLocks noGrp="1"/>
          </p:cNvSpPr>
          <p:nvPr>
            <p:ph type="title"/>
          </p:nvPr>
        </p:nvSpPr>
        <p:spPr>
          <a:xfrm>
            <a:off x="577846" y="464842"/>
            <a:ext cx="5379401" cy="3136392"/>
          </a:xfrm>
        </p:spPr>
        <p:txBody>
          <a:bodyPr>
            <a:normAutofit fontScale="90000"/>
          </a:bodyPr>
          <a:lstStyle/>
          <a:p>
            <a:r>
              <a:rPr lang="en-US" dirty="0"/>
              <a:t>5.  The student loan discharge will only help a portion of the Citizens in the country.</a:t>
            </a:r>
          </a:p>
        </p:txBody>
      </p:sp>
      <p:pic>
        <p:nvPicPr>
          <p:cNvPr id="5" name="Picture 4">
            <a:extLst>
              <a:ext uri="{FF2B5EF4-FFF2-40B4-BE49-F238E27FC236}">
                <a16:creationId xmlns:a16="http://schemas.microsoft.com/office/drawing/2014/main" id="{594D3818-7188-CD9C-B0CD-C660775553C8}"/>
              </a:ext>
            </a:extLst>
          </p:cNvPr>
          <p:cNvPicPr>
            <a:picLocks noChangeAspect="1"/>
          </p:cNvPicPr>
          <p:nvPr/>
        </p:nvPicPr>
        <p:blipFill>
          <a:blip r:embed="rId3"/>
          <a:stretch>
            <a:fillRect/>
          </a:stretch>
        </p:blipFill>
        <p:spPr>
          <a:xfrm>
            <a:off x="6046999" y="1847594"/>
            <a:ext cx="5826463" cy="4348490"/>
          </a:xfrm>
          <a:prstGeom prst="rect">
            <a:avLst/>
          </a:prstGeom>
        </p:spPr>
      </p:pic>
      <p:sp>
        <p:nvSpPr>
          <p:cNvPr id="8" name="TextBox 7">
            <a:extLst>
              <a:ext uri="{FF2B5EF4-FFF2-40B4-BE49-F238E27FC236}">
                <a16:creationId xmlns:a16="http://schemas.microsoft.com/office/drawing/2014/main" id="{405B61AD-4475-743C-08A9-A6C8F198BD98}"/>
              </a:ext>
            </a:extLst>
          </p:cNvPr>
          <p:cNvSpPr txBox="1"/>
          <p:nvPr/>
        </p:nvSpPr>
        <p:spPr>
          <a:xfrm>
            <a:off x="318538" y="4021839"/>
            <a:ext cx="5376132" cy="1477328"/>
          </a:xfrm>
          <a:prstGeom prst="rect">
            <a:avLst/>
          </a:prstGeom>
          <a:noFill/>
        </p:spPr>
        <p:txBody>
          <a:bodyPr wrap="square" rtlCol="0">
            <a:spAutoFit/>
          </a:bodyPr>
          <a:lstStyle/>
          <a:p>
            <a:r>
              <a:rPr lang="en-US" dirty="0"/>
              <a:t>Because of the distribution of student loans by income, those that have higher incomes will benefit more from the changes in student loan programs because they have higher debt amounts outstanding.</a:t>
            </a:r>
          </a:p>
        </p:txBody>
      </p:sp>
    </p:spTree>
    <p:extLst>
      <p:ext uri="{BB962C8B-B14F-4D97-AF65-F5344CB8AC3E}">
        <p14:creationId xmlns:p14="http://schemas.microsoft.com/office/powerpoint/2010/main" val="1667917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6DDD-2B51-A3DD-C006-AF7268DA9F4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0B424F5-AA13-BCF5-DC6D-409DAE3544AC}"/>
              </a:ext>
            </a:extLst>
          </p:cNvPr>
          <p:cNvSpPr>
            <a:spLocks noGrp="1"/>
          </p:cNvSpPr>
          <p:nvPr>
            <p:ph idx="1"/>
          </p:nvPr>
        </p:nvSpPr>
        <p:spPr/>
        <p:txBody>
          <a:bodyPr/>
          <a:lstStyle/>
          <a:p>
            <a:r>
              <a:rPr lang="en-US" dirty="0"/>
              <a:t>The front-line response for the pandemic was testing and vaccination.  It has been proven those were effective in controlling spread and severity of illness.</a:t>
            </a:r>
          </a:p>
          <a:p>
            <a:r>
              <a:rPr lang="en-US" dirty="0"/>
              <a:t>From a financial perspective, those programs that supported small businesses were successful.</a:t>
            </a:r>
          </a:p>
          <a:p>
            <a:r>
              <a:rPr lang="en-US" dirty="0"/>
              <a:t>The changes to the student loan programs have been the most confusing and their outcomes still </a:t>
            </a:r>
            <a:r>
              <a:rPr lang="en-US" dirty="0" err="1"/>
              <a:t>hve</a:t>
            </a:r>
            <a:r>
              <a:rPr lang="en-US" dirty="0"/>
              <a:t> unknown impact on the citizens.</a:t>
            </a:r>
          </a:p>
        </p:txBody>
      </p:sp>
    </p:spTree>
    <p:extLst>
      <p:ext uri="{BB962C8B-B14F-4D97-AF65-F5344CB8AC3E}">
        <p14:creationId xmlns:p14="http://schemas.microsoft.com/office/powerpoint/2010/main" val="3785926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CE9A3A63-DBEA-11E8-F316-3F31D811B4DE}"/>
              </a:ext>
            </a:extLst>
          </p:cNvPr>
          <p:cNvPicPr>
            <a:picLocks noChangeAspect="1"/>
          </p:cNvPicPr>
          <p:nvPr/>
        </p:nvPicPr>
        <p:blipFill rotWithShape="1">
          <a:blip r:embed="rId2">
            <a:alphaModFix amt="70000"/>
          </a:blip>
          <a:srcRect t="15730"/>
          <a:stretch/>
        </p:blipFill>
        <p:spPr>
          <a:xfrm>
            <a:off x="20" y="10"/>
            <a:ext cx="12191980" cy="6857990"/>
          </a:xfrm>
          <a:prstGeom prst="rect">
            <a:avLst/>
          </a:prstGeom>
        </p:spPr>
      </p:pic>
      <p:sp>
        <p:nvSpPr>
          <p:cNvPr id="5" name="TextBox 4">
            <a:extLst>
              <a:ext uri="{FF2B5EF4-FFF2-40B4-BE49-F238E27FC236}">
                <a16:creationId xmlns:a16="http://schemas.microsoft.com/office/drawing/2014/main" id="{C26A1AF2-2E94-34ED-FBA5-C6C457CD0D83}"/>
              </a:ext>
            </a:extLst>
          </p:cNvPr>
          <p:cNvSpPr txBox="1"/>
          <p:nvPr/>
        </p:nvSpPr>
        <p:spPr>
          <a:xfrm>
            <a:off x="156950" y="260728"/>
            <a:ext cx="11878100" cy="6336543"/>
          </a:xfrm>
          <a:prstGeom prst="rect">
            <a:avLst/>
          </a:prstGeom>
          <a:noFill/>
        </p:spPr>
        <p:txBody>
          <a:bodyPr wrap="square" rtlCol="0">
            <a:spAutoFit/>
          </a:bodyPr>
          <a:lstStyle/>
          <a:p>
            <a:r>
              <a:rPr lang="en-US" sz="800" b="1" dirty="0"/>
              <a:t>References</a:t>
            </a:r>
            <a:r>
              <a:rPr lang="en-US" sz="800" dirty="0"/>
              <a:t>:</a:t>
            </a:r>
          </a:p>
          <a:p>
            <a:pPr marL="171450" marR="0" indent="-171450">
              <a:lnSpc>
                <a:spcPct val="200000"/>
              </a:lnSpc>
              <a:spcBef>
                <a:spcPts val="0"/>
              </a:spcBef>
              <a:spcAft>
                <a:spcPts val="0"/>
              </a:spcAft>
              <a:buFont typeface="Arial" panose="020B0604020202020204" pitchFamily="34" charset="0"/>
              <a:buChar char="•"/>
            </a:pP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Bartik</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 Bertrand, M., Cullen, Z., </a:t>
            </a: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Glaeser</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E., Luca, M., and Stanton, C. (2020).  The impact of COVID-19 on small business outcomes and expectations.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National Library of Medicine,</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DOI </a:t>
            </a:r>
            <a:r>
              <a:rPr lang="en-US" sz="800" u="sng" kern="100" dirty="0">
                <a:solidFill>
                  <a:srgbClr val="0563C1"/>
                </a:solidFill>
                <a:effectLst/>
                <a:latin typeface="Helvetica" panose="020B0604020202020204" pitchFamily="34" charset="0"/>
                <a:ea typeface="Calibri" panose="020F0502020204030204" pitchFamily="34" charset="0"/>
                <a:cs typeface="Times New Roman" panose="02020603050405020304" pitchFamily="18" charset="0"/>
                <a:hlinkClick r:id="rId3"/>
              </a:rPr>
              <a:t>10.1073/pnas.2006991117</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https://www.ncbi.nlm.nih.gov/pmc/articles/PMC7395529/</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CBPP.  (2023, April 28).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Unwinding the Medicaid Continuous Coverage Requirement.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https://www.cbpp.org/research/health/unwinding-the-medicaid-continuous-coverage-requirement</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Centers for Disease Control and Prevention. (2023, March 15).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CDC Museum COVID-19 Timeline.</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https://www.cdc.gov/museum/timeline/covid19.html</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Centers for Disease Control and Prevention.  (2023, May 11).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COVID Data Tracker.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https://covid.cdc.gov/covid-data-tracker/#vaccinations_vacc-total-admin-rate-total</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CRFB.  (2020, December 21).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What's in the Final COVID Relief Deal of 2020?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8"/>
              </a:rPr>
              <a:t>https://www.crfb.org/blogs/whats-final-covid-relief-deal-2020</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CRFB.  (2021, January 7).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Breaking Down $3.4 Trillion in COVID Relief.</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9"/>
              </a:rPr>
              <a:t>https://www.crfb.org/blogs/breaking-down-34-trillion-covid-relief#:~:text=Of%20the%20%243.4%20trillion%20in,from%20the%20other%20two%20bills</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Custer, B. (2022, August 9).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Timeline: Federal Student Loans During the COVID-19 Pandemic. </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0"/>
              </a:rPr>
              <a:t>https://www.americanprogress.org/article/timeline-federal-student-loans-during-the-covid-19-pandemic/</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Federal Student Aid.  (2023).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COVID-19 Loan Payment Paus and 0% Interest.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1"/>
              </a:rPr>
              <a:t>https://studentaid.gov/announcements-events/covid-19/payment-pause-zero-interest</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Google Trends.  (2023, June 11).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Millions lose Medicaid coverage.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2"/>
              </a:rPr>
              <a:t>https://trends.google.com/trends/explore?date=today%203-m&amp;geo=US&amp;q=millions%20lose%20medicaid%20coverage</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KFF.  (2020, March 11).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The U.S. Response to Coronavirus: Summary of the Coronavirus Preparedness and Response Supplemental Appropriations Act, 2020</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3"/>
              </a:rPr>
              <a:t>https://www.kff.org/global-health-policy/issue-brief/the-u-s-response-to-coronavirus-summary-of-the-coronavirus-preparedness-and-response-supplemental-appropriations-act-2020/</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KFF.  (2020, March 18).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The Families First Coronavirus Response Act: Summary of Key Provisions.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4"/>
              </a:rPr>
              <a:t>https://www.kff.org/global-health-policy/issue-brief/the-families-first-coronavirus-response-act-summary-of-key-provisions/</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KFF.  (2020, April 9).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The Coronavirus Aid, Relief, and Economic Security Act: Summary of Key Health Provisions</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5"/>
              </a:rPr>
              <a:t>https://www.kff.org/coronavirus-covid-19/issue-brief/the-coronavirus-aid-relief-and-economic-security-act-summary-of-key-health-provisions/</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KFF.  (2023, June 29).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10 Things to Know About the Unwinding of the Medicaid Continuous Enrollment Provision.</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6"/>
              </a:rPr>
              <a:t>https://www.kff.org/medicaid/issue-brief/10-things-to-know-about-the-unwinding-of-the-medicaid-continuous-enrollment-provision/</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kern="100" dirty="0" err="1">
                <a:effectLst/>
                <a:latin typeface="Calibri" panose="020F0502020204030204" pitchFamily="34" charset="0"/>
                <a:ea typeface="Calibri" panose="020F0502020204030204" pitchFamily="34" charset="0"/>
                <a:cs typeface="Times New Roman" panose="02020603050405020304" pitchFamily="18" charset="0"/>
              </a:rPr>
              <a:t>Maeckelberghe</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E.  (2021, November 09).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Ethical implications of COVID-19: vulnerabilities in a global perspective.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7"/>
              </a:rPr>
              <a:t>https://academic.oup.com/eurpub/article/31/Supplement_4/iv50/6423457</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200000"/>
              </a:lnSpc>
              <a:spcBef>
                <a:spcPts val="0"/>
              </a:spcBef>
              <a:spcAft>
                <a:spcPts val="0"/>
              </a:spcAft>
              <a:buFont typeface="Arial" panose="020B0604020202020204" pitchFamily="34" charset="0"/>
              <a:buChar char="•"/>
            </a:pPr>
            <a:r>
              <a:rPr lang="en-US" sz="800" kern="100" dirty="0" err="1">
                <a:solidFill>
                  <a:srgbClr val="212121"/>
                </a:solidFill>
                <a:effectLst/>
                <a:latin typeface="Calibri" panose="020F0502020204030204" pitchFamily="34" charset="0"/>
                <a:ea typeface="Calibri" panose="020F0502020204030204" pitchFamily="34" charset="0"/>
                <a:cs typeface="Calibri" panose="020F0502020204030204" pitchFamily="34" charset="0"/>
              </a:rPr>
              <a:t>Moghadas</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S. M., </a:t>
            </a:r>
            <a:r>
              <a:rPr lang="en-US" sz="800" kern="100" dirty="0" err="1">
                <a:solidFill>
                  <a:srgbClr val="212121"/>
                </a:solidFill>
                <a:effectLst/>
                <a:latin typeface="Calibri" panose="020F0502020204030204" pitchFamily="34" charset="0"/>
                <a:ea typeface="Calibri" panose="020F0502020204030204" pitchFamily="34" charset="0"/>
                <a:cs typeface="Calibri" panose="020F0502020204030204" pitchFamily="34" charset="0"/>
              </a:rPr>
              <a:t>Vilches</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T. N., Zhang, K., Wells, C. R., </a:t>
            </a:r>
            <a:r>
              <a:rPr lang="en-US" sz="800" kern="100" dirty="0" err="1">
                <a:solidFill>
                  <a:srgbClr val="212121"/>
                </a:solidFill>
                <a:effectLst/>
                <a:latin typeface="Calibri" panose="020F0502020204030204" pitchFamily="34" charset="0"/>
                <a:ea typeface="Calibri" panose="020F0502020204030204" pitchFamily="34" charset="0"/>
                <a:cs typeface="Calibri" panose="020F0502020204030204" pitchFamily="34" charset="0"/>
              </a:rPr>
              <a:t>Shoukat</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A., Singer, B. H., Meyers, L. A., </a:t>
            </a:r>
            <a:r>
              <a:rPr lang="en-US" sz="800" kern="100" dirty="0" err="1">
                <a:solidFill>
                  <a:srgbClr val="212121"/>
                </a:solidFill>
                <a:effectLst/>
                <a:latin typeface="Calibri" panose="020F0502020204030204" pitchFamily="34" charset="0"/>
                <a:ea typeface="Calibri" panose="020F0502020204030204" pitchFamily="34" charset="0"/>
                <a:cs typeface="Calibri" panose="020F0502020204030204" pitchFamily="34" charset="0"/>
              </a:rPr>
              <a:t>Neuzil</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K. M., Langley, J. M., Fitzpatrick, M. C., &amp; Galvani, A. P. (2021). The impact of vaccination on COVID-19 outbreaks in the United States. </a:t>
            </a:r>
            <a:r>
              <a:rPr lang="en-US" sz="800" i="1" kern="100" dirty="0" err="1">
                <a:solidFill>
                  <a:srgbClr val="212121"/>
                </a:solidFill>
                <a:effectLst/>
                <a:latin typeface="Calibri" panose="020F0502020204030204" pitchFamily="34" charset="0"/>
                <a:ea typeface="Calibri" panose="020F0502020204030204" pitchFamily="34" charset="0"/>
                <a:cs typeface="Calibri" panose="020F0502020204030204" pitchFamily="34" charset="0"/>
              </a:rPr>
              <a:t>medRxiv</a:t>
            </a:r>
            <a:r>
              <a:rPr lang="en-US" sz="800" i="1"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 the preprint server for health sciences</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2020.11.27.20240051. </a:t>
            </a:r>
            <a:r>
              <a:rPr lang="en-US" sz="800" u="sng" kern="100"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18"/>
              </a:rPr>
              <a:t>https://doi.org/10.1101/2020.11.27.20240051</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a:t>
            </a:r>
            <a:r>
              <a:rPr lang="en-US" sz="800" u="sng" kern="100"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19"/>
              </a:rPr>
              <a:t>https://www.ncbi.nlm.nih.gov/pmc/articles/PMC7709178/</a:t>
            </a:r>
            <a:r>
              <a:rPr lang="en-US" sz="800" kern="100" dirty="0">
                <a:solidFill>
                  <a:srgbClr val="212121"/>
                </a:solidFill>
                <a:effectLst/>
                <a:latin typeface="Calibri" panose="020F0502020204030204" pitchFamily="34" charset="0"/>
                <a:ea typeface="Calibri" panose="020F0502020204030204" pitchFamily="34" charset="0"/>
                <a:cs typeface="Calibri" panose="020F0502020204030204" pitchFamily="34" charset="0"/>
              </a:rPr>
              <a:t> </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PNAS (Proceedings of the National Academy of Sciences). (2020, July 10).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The impact of COVID-19 on small business outcomes and expectations.</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0"/>
              </a:rPr>
              <a:t>https://www.pnas.org/doi/10.1073/pnas.2006991117</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Stratford, M. (2020, March 13).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 Trump to waive interest on federal student loans ‘until further notice’.</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1"/>
              </a:rPr>
              <a:t>https://www.politico.com/news/2020/03/13/trump-administration-student-loan-payments-suspension-128181</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Turner, S.  (2023, April 13).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Student loan pause has benefitted affluent borrowers the most, others may struggle when payments resume. </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2"/>
              </a:rPr>
              <a:t>https://www.brookings.edu/articles/student-loan-pause-has-benefitted-affluent-borrowers-the-most-others-may-struggle-when-payments-resume/</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U.S. Department of Health and Human services. (2023, May 9).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Fact Sheet:  End of the COVID-19 Public Health Emergency.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3"/>
              </a:rPr>
              <a:t>https://www.hhs.gov/about/news/2023/05/09/fact-sheet-end-of-the-covid-19-public-health-emergency.html</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The White House.  (2022, March 12).  </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FACT SHEET: Consequences of Lack of Funding for Efforts to Combat COVID-</a:t>
            </a:r>
            <a:r>
              <a:rPr lang="en-US" sz="800" i="1" kern="100" dirty="0">
                <a:effectLst/>
                <a:latin typeface="Tahoma" panose="020B0604030504040204" pitchFamily="34" charset="0"/>
                <a:ea typeface="Calibri" panose="020F0502020204030204" pitchFamily="34" charset="0"/>
                <a:cs typeface="Times New Roman" panose="02020603050405020304" pitchFamily="18" charset="0"/>
              </a:rPr>
              <a:t>⁠</a:t>
            </a:r>
            <a:r>
              <a:rPr lang="en-US" sz="800" i="1" kern="100" dirty="0">
                <a:effectLst/>
                <a:latin typeface="Calibri" panose="020F0502020204030204" pitchFamily="34" charset="0"/>
                <a:ea typeface="Calibri" panose="020F0502020204030204" pitchFamily="34" charset="0"/>
                <a:cs typeface="Times New Roman" panose="02020603050405020304" pitchFamily="18" charset="0"/>
              </a:rPr>
              <a:t>19 if Congress Does Not Act</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4"/>
              </a:rPr>
              <a:t>https://www.whitehouse.gov/briefing-room/statements-releases/2022/03/15/fact-sheet-consequences-of-lack-of-funding-for-efforts-to-combat-covid-19-if-congress-does-not-act/</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marR="0" indent="-171450">
              <a:lnSpc>
                <a:spcPct val="200000"/>
              </a:lnSpc>
              <a:spcBef>
                <a:spcPts val="0"/>
              </a:spcBef>
              <a:spcAft>
                <a:spcPts val="0"/>
              </a:spcAft>
              <a:buFont typeface="Arial" panose="020B0604020202020204" pitchFamily="34" charset="0"/>
              <a:buChar char="•"/>
            </a:pPr>
            <a:r>
              <a:rPr lang="en-US" sz="800" kern="100" dirty="0">
                <a:effectLst/>
                <a:latin typeface="Calibri" panose="020F0502020204030204" pitchFamily="34" charset="0"/>
                <a:ea typeface="Calibri" panose="020F0502020204030204" pitchFamily="34" charset="0"/>
                <a:cs typeface="Times New Roman" panose="02020603050405020304" pitchFamily="18" charset="0"/>
              </a:rPr>
              <a:t>World Health Organization.  (2023).  Coronavirus disease (COVID-19).  </a:t>
            </a:r>
            <a:r>
              <a:rPr lang="en-US" sz="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5"/>
              </a:rPr>
              <a:t>https://www.who.int/health-topics/coronavirus#tab=tab_1</a:t>
            </a:r>
            <a:r>
              <a:rPr lang="en-US" sz="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169123653"/>
      </p:ext>
    </p:extLst>
  </p:cSld>
  <p:clrMapOvr>
    <a:masterClrMapping/>
  </p:clrMapOvr>
</p:sld>
</file>

<file path=ppt/theme/theme1.xml><?xml version="1.0" encoding="utf-8"?>
<a:theme xmlns:a="http://schemas.openxmlformats.org/drawingml/2006/main" name="Brush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1806</Words>
  <Application>Microsoft Office PowerPoint</Application>
  <PresentationFormat>Widescreen</PresentationFormat>
  <Paragraphs>61</Paragraphs>
  <Slides>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Century Gothic</vt:lpstr>
      <vt:lpstr>Helvetica</vt:lpstr>
      <vt:lpstr>Tahoma</vt:lpstr>
      <vt:lpstr>BrushVTI</vt:lpstr>
      <vt:lpstr>COVID-19</vt:lpstr>
      <vt:lpstr>Research Theory:  Is the official end of the COVID-19 Public Health Emergency (PHE) and removal of its associated benefits going to hurt US Citizens more than the benefits they provided during the three-year pandemic?</vt:lpstr>
      <vt:lpstr>1.  The Medicaid Unwind will remove people from health care that really need it.</vt:lpstr>
      <vt:lpstr>2.  Not having free vaccinations available to all will increase disease spread.</vt:lpstr>
      <vt:lpstr>3.  The business loans to essential businesses were only a band aid in helping them remain open.</vt:lpstr>
      <vt:lpstr>4.  Restarting student loan payments will hurt families financially. </vt:lpstr>
      <vt:lpstr>5.  The student loan discharge will only help a portion of the Citizens in the country.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dc:title>
  <dc:creator>Caitie Schrotberger</dc:creator>
  <cp:lastModifiedBy>Caitie Schrotberger</cp:lastModifiedBy>
  <cp:revision>5</cp:revision>
  <dcterms:created xsi:type="dcterms:W3CDTF">2023-07-21T18:41:39Z</dcterms:created>
  <dcterms:modified xsi:type="dcterms:W3CDTF">2023-07-21T20:17:06Z</dcterms:modified>
</cp:coreProperties>
</file>