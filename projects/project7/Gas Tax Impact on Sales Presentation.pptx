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14"/>
  </p:notesMasterIdLst>
  <p:sldIdLst>
    <p:sldId id="256" r:id="rId2"/>
    <p:sldId id="257" r:id="rId3"/>
    <p:sldId id="262" r:id="rId4"/>
    <p:sldId id="260" r:id="rId5"/>
    <p:sldId id="258" r:id="rId6"/>
    <p:sldId id="263" r:id="rId7"/>
    <p:sldId id="259" r:id="rId8"/>
    <p:sldId id="264" r:id="rId9"/>
    <p:sldId id="265" r:id="rId10"/>
    <p:sldId id="266" r:id="rId11"/>
    <p:sldId id="267" r:id="rId12"/>
    <p:sldId id="26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77212" autoAdjust="0"/>
  </p:normalViewPr>
  <p:slideViewPr>
    <p:cSldViewPr snapToGrid="0">
      <p:cViewPr>
        <p:scale>
          <a:sx n="65" d="100"/>
          <a:sy n="65" d="100"/>
        </p:scale>
        <p:origin x="1481" y="3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C3A376-E1D3-4887-B64B-57D9516F862D}"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FC143753-A77D-4F13-A21A-E27D3A7C898B}">
      <dgm:prSet/>
      <dgm:spPr/>
      <dgm:t>
        <a:bodyPr/>
        <a:lstStyle/>
        <a:p>
          <a:r>
            <a:rPr lang="en-US" b="1"/>
            <a:t>Model Type</a:t>
          </a:r>
          <a:endParaRPr lang="en-US"/>
        </a:p>
      </dgm:t>
    </dgm:pt>
    <dgm:pt modelId="{D22E5F2F-BBEE-4933-914D-FD6348C629F1}" type="parTrans" cxnId="{D7D07EAB-B01D-448C-A071-512A46C0232E}">
      <dgm:prSet/>
      <dgm:spPr/>
      <dgm:t>
        <a:bodyPr/>
        <a:lstStyle/>
        <a:p>
          <a:endParaRPr lang="en-US"/>
        </a:p>
      </dgm:t>
    </dgm:pt>
    <dgm:pt modelId="{BCBA5FEA-19F1-4540-966F-A9F81DCAD38B}" type="sibTrans" cxnId="{D7D07EAB-B01D-448C-A071-512A46C0232E}">
      <dgm:prSet/>
      <dgm:spPr/>
      <dgm:t>
        <a:bodyPr/>
        <a:lstStyle/>
        <a:p>
          <a:endParaRPr lang="en-US"/>
        </a:p>
      </dgm:t>
    </dgm:pt>
    <dgm:pt modelId="{2A0A1529-E643-42F6-BE64-FB2AC3E2344E}">
      <dgm:prSet/>
      <dgm:spPr/>
      <dgm:t>
        <a:bodyPr/>
        <a:lstStyle/>
        <a:p>
          <a:r>
            <a:rPr lang="en-US"/>
            <a:t>Linear Regression</a:t>
          </a:r>
        </a:p>
      </dgm:t>
    </dgm:pt>
    <dgm:pt modelId="{075F516C-381B-4D03-BC36-2DC66F4142F1}" type="parTrans" cxnId="{492A0CB1-0C4E-4507-816B-A93FCE2E634C}">
      <dgm:prSet/>
      <dgm:spPr/>
      <dgm:t>
        <a:bodyPr/>
        <a:lstStyle/>
        <a:p>
          <a:endParaRPr lang="en-US"/>
        </a:p>
      </dgm:t>
    </dgm:pt>
    <dgm:pt modelId="{52B835AF-4059-4C81-89B3-33804372485E}" type="sibTrans" cxnId="{492A0CB1-0C4E-4507-816B-A93FCE2E634C}">
      <dgm:prSet/>
      <dgm:spPr/>
      <dgm:t>
        <a:bodyPr/>
        <a:lstStyle/>
        <a:p>
          <a:endParaRPr lang="en-US"/>
        </a:p>
      </dgm:t>
    </dgm:pt>
    <dgm:pt modelId="{DF745102-AC8A-4A9B-9710-D885C9532D0F}">
      <dgm:prSet/>
      <dgm:spPr/>
      <dgm:t>
        <a:bodyPr/>
        <a:lstStyle/>
        <a:p>
          <a:r>
            <a:rPr lang="en-US"/>
            <a:t>Ridge Regression</a:t>
          </a:r>
        </a:p>
      </dgm:t>
    </dgm:pt>
    <dgm:pt modelId="{BDEB1568-1225-40C1-AD48-3AE59C97F3D3}" type="parTrans" cxnId="{6296B4AA-4B45-472C-B4CE-F517C4934E7C}">
      <dgm:prSet/>
      <dgm:spPr/>
      <dgm:t>
        <a:bodyPr/>
        <a:lstStyle/>
        <a:p>
          <a:endParaRPr lang="en-US"/>
        </a:p>
      </dgm:t>
    </dgm:pt>
    <dgm:pt modelId="{9D38DB7D-6038-439C-94F0-E34AB8991C1C}" type="sibTrans" cxnId="{6296B4AA-4B45-472C-B4CE-F517C4934E7C}">
      <dgm:prSet/>
      <dgm:spPr/>
      <dgm:t>
        <a:bodyPr/>
        <a:lstStyle/>
        <a:p>
          <a:endParaRPr lang="en-US"/>
        </a:p>
      </dgm:t>
    </dgm:pt>
    <dgm:pt modelId="{C517B332-BA76-42FD-8A95-B128ACDC2F21}">
      <dgm:prSet/>
      <dgm:spPr/>
      <dgm:t>
        <a:bodyPr/>
        <a:lstStyle/>
        <a:p>
          <a:r>
            <a:rPr lang="en-US"/>
            <a:t>Lasso Regression</a:t>
          </a:r>
        </a:p>
      </dgm:t>
    </dgm:pt>
    <dgm:pt modelId="{7EB2DC7D-02A7-469C-9BC5-9D6258EE6EC1}" type="parTrans" cxnId="{9807288C-3FD6-47C6-BD3E-A33E8163A625}">
      <dgm:prSet/>
      <dgm:spPr/>
      <dgm:t>
        <a:bodyPr/>
        <a:lstStyle/>
        <a:p>
          <a:endParaRPr lang="en-US"/>
        </a:p>
      </dgm:t>
    </dgm:pt>
    <dgm:pt modelId="{718BCE13-B161-49EF-A5AA-16124DBFB0F2}" type="sibTrans" cxnId="{9807288C-3FD6-47C6-BD3E-A33E8163A625}">
      <dgm:prSet/>
      <dgm:spPr/>
      <dgm:t>
        <a:bodyPr/>
        <a:lstStyle/>
        <a:p>
          <a:endParaRPr lang="en-US"/>
        </a:p>
      </dgm:t>
    </dgm:pt>
    <dgm:pt modelId="{1DDECC1D-9821-4D06-97EF-4104C7066276}">
      <dgm:prSet/>
      <dgm:spPr/>
      <dgm:t>
        <a:bodyPr/>
        <a:lstStyle/>
        <a:p>
          <a:r>
            <a:rPr lang="en-US"/>
            <a:t>Random Forest</a:t>
          </a:r>
        </a:p>
      </dgm:t>
    </dgm:pt>
    <dgm:pt modelId="{CEA67D21-1C14-40CB-A17D-AA48A0EB8D2C}" type="parTrans" cxnId="{ADAA8FC3-1F16-4630-927E-B34399200474}">
      <dgm:prSet/>
      <dgm:spPr/>
      <dgm:t>
        <a:bodyPr/>
        <a:lstStyle/>
        <a:p>
          <a:endParaRPr lang="en-US"/>
        </a:p>
      </dgm:t>
    </dgm:pt>
    <dgm:pt modelId="{8D9DF3FF-F84E-4D5F-AB7E-1F1D620359F0}" type="sibTrans" cxnId="{ADAA8FC3-1F16-4630-927E-B34399200474}">
      <dgm:prSet/>
      <dgm:spPr/>
      <dgm:t>
        <a:bodyPr/>
        <a:lstStyle/>
        <a:p>
          <a:endParaRPr lang="en-US"/>
        </a:p>
      </dgm:t>
    </dgm:pt>
    <dgm:pt modelId="{4F8A0D77-4713-4F72-9A9F-8F398E6E887A}">
      <dgm:prSet/>
      <dgm:spPr/>
      <dgm:t>
        <a:bodyPr/>
        <a:lstStyle/>
        <a:p>
          <a:r>
            <a:rPr lang="en-US" b="1"/>
            <a:t>Evaluation Metrics</a:t>
          </a:r>
          <a:endParaRPr lang="en-US"/>
        </a:p>
      </dgm:t>
    </dgm:pt>
    <dgm:pt modelId="{E3D57CC2-640E-493C-9DDE-2631477AA1EF}" type="parTrans" cxnId="{C3F79FAB-3417-4BF6-B553-1CB41C14A555}">
      <dgm:prSet/>
      <dgm:spPr/>
      <dgm:t>
        <a:bodyPr/>
        <a:lstStyle/>
        <a:p>
          <a:endParaRPr lang="en-US"/>
        </a:p>
      </dgm:t>
    </dgm:pt>
    <dgm:pt modelId="{999D72EE-D355-4C7E-8086-9776D7EFA31D}" type="sibTrans" cxnId="{C3F79FAB-3417-4BF6-B553-1CB41C14A555}">
      <dgm:prSet/>
      <dgm:spPr/>
      <dgm:t>
        <a:bodyPr/>
        <a:lstStyle/>
        <a:p>
          <a:endParaRPr lang="en-US"/>
        </a:p>
      </dgm:t>
    </dgm:pt>
    <dgm:pt modelId="{CE0E45B2-2C4B-4D56-9AE1-9F5AB3EC7C13}">
      <dgm:prSet/>
      <dgm:spPr/>
      <dgm:t>
        <a:bodyPr/>
        <a:lstStyle/>
        <a:p>
          <a:r>
            <a:rPr lang="en-US"/>
            <a:t>Root Mean Square Error (RMSE)</a:t>
          </a:r>
        </a:p>
      </dgm:t>
    </dgm:pt>
    <dgm:pt modelId="{0AA37E5F-DB72-44DC-9298-C854A7EF7A13}" type="parTrans" cxnId="{152AEDA2-AF6D-474F-9F65-B58926960E29}">
      <dgm:prSet/>
      <dgm:spPr/>
      <dgm:t>
        <a:bodyPr/>
        <a:lstStyle/>
        <a:p>
          <a:endParaRPr lang="en-US"/>
        </a:p>
      </dgm:t>
    </dgm:pt>
    <dgm:pt modelId="{8570F82F-6BAE-47E8-B646-E47D5960A14B}" type="sibTrans" cxnId="{152AEDA2-AF6D-474F-9F65-B58926960E29}">
      <dgm:prSet/>
      <dgm:spPr/>
      <dgm:t>
        <a:bodyPr/>
        <a:lstStyle/>
        <a:p>
          <a:endParaRPr lang="en-US"/>
        </a:p>
      </dgm:t>
    </dgm:pt>
    <dgm:pt modelId="{ACFA7912-228C-4214-865C-3A0EB6E513EF}">
      <dgm:prSet/>
      <dgm:spPr/>
      <dgm:t>
        <a:bodyPr/>
        <a:lstStyle/>
        <a:p>
          <a:r>
            <a:rPr lang="en-US" dirty="0"/>
            <a:t>R-squared (R</a:t>
          </a:r>
          <a:r>
            <a:rPr lang="en-US" baseline="30000" dirty="0"/>
            <a:t>2</a:t>
          </a:r>
          <a:r>
            <a:rPr lang="en-US" dirty="0"/>
            <a:t>)</a:t>
          </a:r>
        </a:p>
      </dgm:t>
    </dgm:pt>
    <dgm:pt modelId="{99D8CA4D-B0A9-48F7-AA2B-AE3121FD9CF0}" type="parTrans" cxnId="{6C882812-0000-4CB4-A14E-FA7F8AA3A43C}">
      <dgm:prSet/>
      <dgm:spPr/>
      <dgm:t>
        <a:bodyPr/>
        <a:lstStyle/>
        <a:p>
          <a:endParaRPr lang="en-US"/>
        </a:p>
      </dgm:t>
    </dgm:pt>
    <dgm:pt modelId="{B25CA34F-B0E7-4163-88A3-024C10C4A863}" type="sibTrans" cxnId="{6C882812-0000-4CB4-A14E-FA7F8AA3A43C}">
      <dgm:prSet/>
      <dgm:spPr/>
      <dgm:t>
        <a:bodyPr/>
        <a:lstStyle/>
        <a:p>
          <a:endParaRPr lang="en-US"/>
        </a:p>
      </dgm:t>
    </dgm:pt>
    <dgm:pt modelId="{ECB94DE6-614F-443D-9BA1-AB1B44A40A1D}" type="pres">
      <dgm:prSet presAssocID="{8EC3A376-E1D3-4887-B64B-57D9516F862D}" presName="linear" presStyleCnt="0">
        <dgm:presLayoutVars>
          <dgm:dir/>
          <dgm:animLvl val="lvl"/>
          <dgm:resizeHandles val="exact"/>
        </dgm:presLayoutVars>
      </dgm:prSet>
      <dgm:spPr/>
    </dgm:pt>
    <dgm:pt modelId="{2AF22DB6-C3D0-479D-92DF-98183232E500}" type="pres">
      <dgm:prSet presAssocID="{FC143753-A77D-4F13-A21A-E27D3A7C898B}" presName="parentLin" presStyleCnt="0"/>
      <dgm:spPr/>
    </dgm:pt>
    <dgm:pt modelId="{082015DF-EF01-46AC-8D40-C507400B4CED}" type="pres">
      <dgm:prSet presAssocID="{FC143753-A77D-4F13-A21A-E27D3A7C898B}" presName="parentLeftMargin" presStyleLbl="node1" presStyleIdx="0" presStyleCnt="2"/>
      <dgm:spPr/>
    </dgm:pt>
    <dgm:pt modelId="{14A5494F-C12C-4B1B-A788-ADEBB7F608C2}" type="pres">
      <dgm:prSet presAssocID="{FC143753-A77D-4F13-A21A-E27D3A7C898B}" presName="parentText" presStyleLbl="node1" presStyleIdx="0" presStyleCnt="2">
        <dgm:presLayoutVars>
          <dgm:chMax val="0"/>
          <dgm:bulletEnabled val="1"/>
        </dgm:presLayoutVars>
      </dgm:prSet>
      <dgm:spPr/>
    </dgm:pt>
    <dgm:pt modelId="{038CD5C1-B26B-46DF-8EEC-47493DEEA7DC}" type="pres">
      <dgm:prSet presAssocID="{FC143753-A77D-4F13-A21A-E27D3A7C898B}" presName="negativeSpace" presStyleCnt="0"/>
      <dgm:spPr/>
    </dgm:pt>
    <dgm:pt modelId="{15D68300-132F-43F1-ACA0-765833BC9B1A}" type="pres">
      <dgm:prSet presAssocID="{FC143753-A77D-4F13-A21A-E27D3A7C898B}" presName="childText" presStyleLbl="conFgAcc1" presStyleIdx="0" presStyleCnt="2">
        <dgm:presLayoutVars>
          <dgm:bulletEnabled val="1"/>
        </dgm:presLayoutVars>
      </dgm:prSet>
      <dgm:spPr/>
    </dgm:pt>
    <dgm:pt modelId="{FF41CDF3-6159-4171-A5D0-68435F2C2C84}" type="pres">
      <dgm:prSet presAssocID="{BCBA5FEA-19F1-4540-966F-A9F81DCAD38B}" presName="spaceBetweenRectangles" presStyleCnt="0"/>
      <dgm:spPr/>
    </dgm:pt>
    <dgm:pt modelId="{FF26F9B6-D209-4E62-B662-A67A1F4FC758}" type="pres">
      <dgm:prSet presAssocID="{4F8A0D77-4713-4F72-9A9F-8F398E6E887A}" presName="parentLin" presStyleCnt="0"/>
      <dgm:spPr/>
    </dgm:pt>
    <dgm:pt modelId="{779BB241-2D53-46FE-BE75-64C15EF7D024}" type="pres">
      <dgm:prSet presAssocID="{4F8A0D77-4713-4F72-9A9F-8F398E6E887A}" presName="parentLeftMargin" presStyleLbl="node1" presStyleIdx="0" presStyleCnt="2"/>
      <dgm:spPr/>
    </dgm:pt>
    <dgm:pt modelId="{108F3170-5C1B-428C-8002-D0955571333A}" type="pres">
      <dgm:prSet presAssocID="{4F8A0D77-4713-4F72-9A9F-8F398E6E887A}" presName="parentText" presStyleLbl="node1" presStyleIdx="1" presStyleCnt="2">
        <dgm:presLayoutVars>
          <dgm:chMax val="0"/>
          <dgm:bulletEnabled val="1"/>
        </dgm:presLayoutVars>
      </dgm:prSet>
      <dgm:spPr/>
    </dgm:pt>
    <dgm:pt modelId="{E28749CF-41B6-412B-B38A-BF9B853390EE}" type="pres">
      <dgm:prSet presAssocID="{4F8A0D77-4713-4F72-9A9F-8F398E6E887A}" presName="negativeSpace" presStyleCnt="0"/>
      <dgm:spPr/>
    </dgm:pt>
    <dgm:pt modelId="{CBE00983-BDEC-4A6F-BBA1-8D47013E1105}" type="pres">
      <dgm:prSet presAssocID="{4F8A0D77-4713-4F72-9A9F-8F398E6E887A}" presName="childText" presStyleLbl="conFgAcc1" presStyleIdx="1" presStyleCnt="2">
        <dgm:presLayoutVars>
          <dgm:bulletEnabled val="1"/>
        </dgm:presLayoutVars>
      </dgm:prSet>
      <dgm:spPr/>
    </dgm:pt>
  </dgm:ptLst>
  <dgm:cxnLst>
    <dgm:cxn modelId="{6C882812-0000-4CB4-A14E-FA7F8AA3A43C}" srcId="{4F8A0D77-4713-4F72-9A9F-8F398E6E887A}" destId="{ACFA7912-228C-4214-865C-3A0EB6E513EF}" srcOrd="1" destOrd="0" parTransId="{99D8CA4D-B0A9-48F7-AA2B-AE3121FD9CF0}" sibTransId="{B25CA34F-B0E7-4163-88A3-024C10C4A863}"/>
    <dgm:cxn modelId="{4DC1A65B-F087-4C53-A12C-6813F809A5EA}" type="presOf" srcId="{ACFA7912-228C-4214-865C-3A0EB6E513EF}" destId="{CBE00983-BDEC-4A6F-BBA1-8D47013E1105}" srcOrd="0" destOrd="1" presId="urn:microsoft.com/office/officeart/2005/8/layout/list1"/>
    <dgm:cxn modelId="{218E235E-B260-43BA-B0E9-E91FA86B4EF4}" type="presOf" srcId="{C517B332-BA76-42FD-8A95-B128ACDC2F21}" destId="{15D68300-132F-43F1-ACA0-765833BC9B1A}" srcOrd="0" destOrd="2" presId="urn:microsoft.com/office/officeart/2005/8/layout/list1"/>
    <dgm:cxn modelId="{C726CF5E-394D-4298-9A90-2E34FC8A5020}" type="presOf" srcId="{2A0A1529-E643-42F6-BE64-FB2AC3E2344E}" destId="{15D68300-132F-43F1-ACA0-765833BC9B1A}" srcOrd="0" destOrd="0" presId="urn:microsoft.com/office/officeart/2005/8/layout/list1"/>
    <dgm:cxn modelId="{DD242456-4CA2-4832-9699-BC801F92783B}" type="presOf" srcId="{8EC3A376-E1D3-4887-B64B-57D9516F862D}" destId="{ECB94DE6-614F-443D-9BA1-AB1B44A40A1D}" srcOrd="0" destOrd="0" presId="urn:microsoft.com/office/officeart/2005/8/layout/list1"/>
    <dgm:cxn modelId="{9807288C-3FD6-47C6-BD3E-A33E8163A625}" srcId="{FC143753-A77D-4F13-A21A-E27D3A7C898B}" destId="{C517B332-BA76-42FD-8A95-B128ACDC2F21}" srcOrd="2" destOrd="0" parTransId="{7EB2DC7D-02A7-469C-9BC5-9D6258EE6EC1}" sibTransId="{718BCE13-B161-49EF-A5AA-16124DBFB0F2}"/>
    <dgm:cxn modelId="{152AEDA2-AF6D-474F-9F65-B58926960E29}" srcId="{4F8A0D77-4713-4F72-9A9F-8F398E6E887A}" destId="{CE0E45B2-2C4B-4D56-9AE1-9F5AB3EC7C13}" srcOrd="0" destOrd="0" parTransId="{0AA37E5F-DB72-44DC-9298-C854A7EF7A13}" sibTransId="{8570F82F-6BAE-47E8-B646-E47D5960A14B}"/>
    <dgm:cxn modelId="{C310CEA5-E4D3-44B0-8FFC-56CA961EC943}" type="presOf" srcId="{4F8A0D77-4713-4F72-9A9F-8F398E6E887A}" destId="{108F3170-5C1B-428C-8002-D0955571333A}" srcOrd="1" destOrd="0" presId="urn:microsoft.com/office/officeart/2005/8/layout/list1"/>
    <dgm:cxn modelId="{6296B4AA-4B45-472C-B4CE-F517C4934E7C}" srcId="{FC143753-A77D-4F13-A21A-E27D3A7C898B}" destId="{DF745102-AC8A-4A9B-9710-D885C9532D0F}" srcOrd="1" destOrd="0" parTransId="{BDEB1568-1225-40C1-AD48-3AE59C97F3D3}" sibTransId="{9D38DB7D-6038-439C-94F0-E34AB8991C1C}"/>
    <dgm:cxn modelId="{D7D07EAB-B01D-448C-A071-512A46C0232E}" srcId="{8EC3A376-E1D3-4887-B64B-57D9516F862D}" destId="{FC143753-A77D-4F13-A21A-E27D3A7C898B}" srcOrd="0" destOrd="0" parTransId="{D22E5F2F-BBEE-4933-914D-FD6348C629F1}" sibTransId="{BCBA5FEA-19F1-4540-966F-A9F81DCAD38B}"/>
    <dgm:cxn modelId="{C3F79FAB-3417-4BF6-B553-1CB41C14A555}" srcId="{8EC3A376-E1D3-4887-B64B-57D9516F862D}" destId="{4F8A0D77-4713-4F72-9A9F-8F398E6E887A}" srcOrd="1" destOrd="0" parTransId="{E3D57CC2-640E-493C-9DDE-2631477AA1EF}" sibTransId="{999D72EE-D355-4C7E-8086-9776D7EFA31D}"/>
    <dgm:cxn modelId="{492A0CB1-0C4E-4507-816B-A93FCE2E634C}" srcId="{FC143753-A77D-4F13-A21A-E27D3A7C898B}" destId="{2A0A1529-E643-42F6-BE64-FB2AC3E2344E}" srcOrd="0" destOrd="0" parTransId="{075F516C-381B-4D03-BC36-2DC66F4142F1}" sibTransId="{52B835AF-4059-4C81-89B3-33804372485E}"/>
    <dgm:cxn modelId="{C44F6FB4-E091-49A8-8DF0-30484C25348F}" type="presOf" srcId="{1DDECC1D-9821-4D06-97EF-4104C7066276}" destId="{15D68300-132F-43F1-ACA0-765833BC9B1A}" srcOrd="0" destOrd="3" presId="urn:microsoft.com/office/officeart/2005/8/layout/list1"/>
    <dgm:cxn modelId="{515BA9B7-7586-4772-A5EF-7633023C8FDD}" type="presOf" srcId="{CE0E45B2-2C4B-4D56-9AE1-9F5AB3EC7C13}" destId="{CBE00983-BDEC-4A6F-BBA1-8D47013E1105}" srcOrd="0" destOrd="0" presId="urn:microsoft.com/office/officeart/2005/8/layout/list1"/>
    <dgm:cxn modelId="{ADAA8FC3-1F16-4630-927E-B34399200474}" srcId="{FC143753-A77D-4F13-A21A-E27D3A7C898B}" destId="{1DDECC1D-9821-4D06-97EF-4104C7066276}" srcOrd="3" destOrd="0" parTransId="{CEA67D21-1C14-40CB-A17D-AA48A0EB8D2C}" sibTransId="{8D9DF3FF-F84E-4D5F-AB7E-1F1D620359F0}"/>
    <dgm:cxn modelId="{4993EBC8-5811-4633-B02B-A42EA1DBE9FE}" type="presOf" srcId="{FC143753-A77D-4F13-A21A-E27D3A7C898B}" destId="{14A5494F-C12C-4B1B-A788-ADEBB7F608C2}" srcOrd="1" destOrd="0" presId="urn:microsoft.com/office/officeart/2005/8/layout/list1"/>
    <dgm:cxn modelId="{D2A5E6CA-09B4-4E1F-B2D6-1837C70FD232}" type="presOf" srcId="{FC143753-A77D-4F13-A21A-E27D3A7C898B}" destId="{082015DF-EF01-46AC-8D40-C507400B4CED}" srcOrd="0" destOrd="0" presId="urn:microsoft.com/office/officeart/2005/8/layout/list1"/>
    <dgm:cxn modelId="{916494D4-016A-4786-AFB5-2892744E63AD}" type="presOf" srcId="{4F8A0D77-4713-4F72-9A9F-8F398E6E887A}" destId="{779BB241-2D53-46FE-BE75-64C15EF7D024}" srcOrd="0" destOrd="0" presId="urn:microsoft.com/office/officeart/2005/8/layout/list1"/>
    <dgm:cxn modelId="{EB1FC2DD-326A-495D-AB11-160AD2080341}" type="presOf" srcId="{DF745102-AC8A-4A9B-9710-D885C9532D0F}" destId="{15D68300-132F-43F1-ACA0-765833BC9B1A}" srcOrd="0" destOrd="1" presId="urn:microsoft.com/office/officeart/2005/8/layout/list1"/>
    <dgm:cxn modelId="{C070B823-1855-49EE-8B9A-4F65B738C0E0}" type="presParOf" srcId="{ECB94DE6-614F-443D-9BA1-AB1B44A40A1D}" destId="{2AF22DB6-C3D0-479D-92DF-98183232E500}" srcOrd="0" destOrd="0" presId="urn:microsoft.com/office/officeart/2005/8/layout/list1"/>
    <dgm:cxn modelId="{AE9DE674-BC89-42F2-95B4-8714D90009F3}" type="presParOf" srcId="{2AF22DB6-C3D0-479D-92DF-98183232E500}" destId="{082015DF-EF01-46AC-8D40-C507400B4CED}" srcOrd="0" destOrd="0" presId="urn:microsoft.com/office/officeart/2005/8/layout/list1"/>
    <dgm:cxn modelId="{174C8F43-6C81-48C0-AC5C-3107707E1B16}" type="presParOf" srcId="{2AF22DB6-C3D0-479D-92DF-98183232E500}" destId="{14A5494F-C12C-4B1B-A788-ADEBB7F608C2}" srcOrd="1" destOrd="0" presId="urn:microsoft.com/office/officeart/2005/8/layout/list1"/>
    <dgm:cxn modelId="{8D877746-A1DC-44FE-B800-F2C2CD8FAF86}" type="presParOf" srcId="{ECB94DE6-614F-443D-9BA1-AB1B44A40A1D}" destId="{038CD5C1-B26B-46DF-8EEC-47493DEEA7DC}" srcOrd="1" destOrd="0" presId="urn:microsoft.com/office/officeart/2005/8/layout/list1"/>
    <dgm:cxn modelId="{30233B43-FC88-406F-B388-234E4385B346}" type="presParOf" srcId="{ECB94DE6-614F-443D-9BA1-AB1B44A40A1D}" destId="{15D68300-132F-43F1-ACA0-765833BC9B1A}" srcOrd="2" destOrd="0" presId="urn:microsoft.com/office/officeart/2005/8/layout/list1"/>
    <dgm:cxn modelId="{9DBAE178-E8A1-4EDA-82D9-ABD593E9A79F}" type="presParOf" srcId="{ECB94DE6-614F-443D-9BA1-AB1B44A40A1D}" destId="{FF41CDF3-6159-4171-A5D0-68435F2C2C84}" srcOrd="3" destOrd="0" presId="urn:microsoft.com/office/officeart/2005/8/layout/list1"/>
    <dgm:cxn modelId="{2D66A4EB-B143-4D89-863E-DAF3C76DCBC8}" type="presParOf" srcId="{ECB94DE6-614F-443D-9BA1-AB1B44A40A1D}" destId="{FF26F9B6-D209-4E62-B662-A67A1F4FC758}" srcOrd="4" destOrd="0" presId="urn:microsoft.com/office/officeart/2005/8/layout/list1"/>
    <dgm:cxn modelId="{020FC81D-AF20-48E2-A9DC-B311AB209AF1}" type="presParOf" srcId="{FF26F9B6-D209-4E62-B662-A67A1F4FC758}" destId="{779BB241-2D53-46FE-BE75-64C15EF7D024}" srcOrd="0" destOrd="0" presId="urn:microsoft.com/office/officeart/2005/8/layout/list1"/>
    <dgm:cxn modelId="{B55759E5-1F23-4221-B1B7-6B625AD0B27A}" type="presParOf" srcId="{FF26F9B6-D209-4E62-B662-A67A1F4FC758}" destId="{108F3170-5C1B-428C-8002-D0955571333A}" srcOrd="1" destOrd="0" presId="urn:microsoft.com/office/officeart/2005/8/layout/list1"/>
    <dgm:cxn modelId="{BBFCD420-B2E5-426A-8AA7-91CC76D0406F}" type="presParOf" srcId="{ECB94DE6-614F-443D-9BA1-AB1B44A40A1D}" destId="{E28749CF-41B6-412B-B38A-BF9B853390EE}" srcOrd="5" destOrd="0" presId="urn:microsoft.com/office/officeart/2005/8/layout/list1"/>
    <dgm:cxn modelId="{EE399BD7-B343-4A39-8405-F3EB2E68CCF8}" type="presParOf" srcId="{ECB94DE6-614F-443D-9BA1-AB1B44A40A1D}" destId="{CBE00983-BDEC-4A6F-BBA1-8D47013E1105}"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D68300-132F-43F1-ACA0-765833BC9B1A}">
      <dsp:nvSpPr>
        <dsp:cNvPr id="0" name=""/>
        <dsp:cNvSpPr/>
      </dsp:nvSpPr>
      <dsp:spPr>
        <a:xfrm>
          <a:off x="0" y="332842"/>
          <a:ext cx="10753725" cy="1827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4609" tIns="416560" rIns="834609"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Linear Regression</a:t>
          </a:r>
        </a:p>
        <a:p>
          <a:pPr marL="228600" lvl="1" indent="-228600" algn="l" defTabSz="889000">
            <a:lnSpc>
              <a:spcPct val="90000"/>
            </a:lnSpc>
            <a:spcBef>
              <a:spcPct val="0"/>
            </a:spcBef>
            <a:spcAft>
              <a:spcPct val="15000"/>
            </a:spcAft>
            <a:buChar char="•"/>
          </a:pPr>
          <a:r>
            <a:rPr lang="en-US" sz="2000" kern="1200"/>
            <a:t>Ridge Regression</a:t>
          </a:r>
        </a:p>
        <a:p>
          <a:pPr marL="228600" lvl="1" indent="-228600" algn="l" defTabSz="889000">
            <a:lnSpc>
              <a:spcPct val="90000"/>
            </a:lnSpc>
            <a:spcBef>
              <a:spcPct val="0"/>
            </a:spcBef>
            <a:spcAft>
              <a:spcPct val="15000"/>
            </a:spcAft>
            <a:buChar char="•"/>
          </a:pPr>
          <a:r>
            <a:rPr lang="en-US" sz="2000" kern="1200"/>
            <a:t>Lasso Regression</a:t>
          </a:r>
        </a:p>
        <a:p>
          <a:pPr marL="228600" lvl="1" indent="-228600" algn="l" defTabSz="889000">
            <a:lnSpc>
              <a:spcPct val="90000"/>
            </a:lnSpc>
            <a:spcBef>
              <a:spcPct val="0"/>
            </a:spcBef>
            <a:spcAft>
              <a:spcPct val="15000"/>
            </a:spcAft>
            <a:buChar char="•"/>
          </a:pPr>
          <a:r>
            <a:rPr lang="en-US" sz="2000" kern="1200"/>
            <a:t>Random Forest</a:t>
          </a:r>
        </a:p>
      </dsp:txBody>
      <dsp:txXfrm>
        <a:off x="0" y="332842"/>
        <a:ext cx="10753725" cy="1827000"/>
      </dsp:txXfrm>
    </dsp:sp>
    <dsp:sp modelId="{14A5494F-C12C-4B1B-A788-ADEBB7F608C2}">
      <dsp:nvSpPr>
        <dsp:cNvPr id="0" name=""/>
        <dsp:cNvSpPr/>
      </dsp:nvSpPr>
      <dsp:spPr>
        <a:xfrm>
          <a:off x="537686" y="37642"/>
          <a:ext cx="7527607"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4526" tIns="0" rIns="284526" bIns="0" numCol="1" spcCol="1270" anchor="ctr" anchorCtr="0">
          <a:noAutofit/>
        </a:bodyPr>
        <a:lstStyle/>
        <a:p>
          <a:pPr marL="0" lvl="0" indent="0" algn="l" defTabSz="889000">
            <a:lnSpc>
              <a:spcPct val="90000"/>
            </a:lnSpc>
            <a:spcBef>
              <a:spcPct val="0"/>
            </a:spcBef>
            <a:spcAft>
              <a:spcPct val="35000"/>
            </a:spcAft>
            <a:buNone/>
          </a:pPr>
          <a:r>
            <a:rPr lang="en-US" sz="2000" b="1" kern="1200"/>
            <a:t>Model Type</a:t>
          </a:r>
          <a:endParaRPr lang="en-US" sz="2000" kern="1200"/>
        </a:p>
      </dsp:txBody>
      <dsp:txXfrm>
        <a:off x="566507" y="66463"/>
        <a:ext cx="7469965" cy="532758"/>
      </dsp:txXfrm>
    </dsp:sp>
    <dsp:sp modelId="{CBE00983-BDEC-4A6F-BBA1-8D47013E1105}">
      <dsp:nvSpPr>
        <dsp:cNvPr id="0" name=""/>
        <dsp:cNvSpPr/>
      </dsp:nvSpPr>
      <dsp:spPr>
        <a:xfrm>
          <a:off x="0" y="2563042"/>
          <a:ext cx="10753725" cy="1165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4609" tIns="416560" rIns="834609"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Root Mean Square Error (RMSE)</a:t>
          </a:r>
        </a:p>
        <a:p>
          <a:pPr marL="228600" lvl="1" indent="-228600" algn="l" defTabSz="889000">
            <a:lnSpc>
              <a:spcPct val="90000"/>
            </a:lnSpc>
            <a:spcBef>
              <a:spcPct val="0"/>
            </a:spcBef>
            <a:spcAft>
              <a:spcPct val="15000"/>
            </a:spcAft>
            <a:buChar char="•"/>
          </a:pPr>
          <a:r>
            <a:rPr lang="en-US" sz="2000" kern="1200" dirty="0"/>
            <a:t>R-squared (R</a:t>
          </a:r>
          <a:r>
            <a:rPr lang="en-US" sz="2000" kern="1200" baseline="30000" dirty="0"/>
            <a:t>2</a:t>
          </a:r>
          <a:r>
            <a:rPr lang="en-US" sz="2000" kern="1200" dirty="0"/>
            <a:t>)</a:t>
          </a:r>
        </a:p>
      </dsp:txBody>
      <dsp:txXfrm>
        <a:off x="0" y="2563042"/>
        <a:ext cx="10753725" cy="1165500"/>
      </dsp:txXfrm>
    </dsp:sp>
    <dsp:sp modelId="{108F3170-5C1B-428C-8002-D0955571333A}">
      <dsp:nvSpPr>
        <dsp:cNvPr id="0" name=""/>
        <dsp:cNvSpPr/>
      </dsp:nvSpPr>
      <dsp:spPr>
        <a:xfrm>
          <a:off x="537686" y="2267842"/>
          <a:ext cx="7527607"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4526" tIns="0" rIns="284526" bIns="0" numCol="1" spcCol="1270" anchor="ctr" anchorCtr="0">
          <a:noAutofit/>
        </a:bodyPr>
        <a:lstStyle/>
        <a:p>
          <a:pPr marL="0" lvl="0" indent="0" algn="l" defTabSz="889000">
            <a:lnSpc>
              <a:spcPct val="90000"/>
            </a:lnSpc>
            <a:spcBef>
              <a:spcPct val="0"/>
            </a:spcBef>
            <a:spcAft>
              <a:spcPct val="35000"/>
            </a:spcAft>
            <a:buNone/>
          </a:pPr>
          <a:r>
            <a:rPr lang="en-US" sz="2000" b="1" kern="1200"/>
            <a:t>Evaluation Metrics</a:t>
          </a:r>
          <a:endParaRPr lang="en-US" sz="2000" kern="1200"/>
        </a:p>
      </dsp:txBody>
      <dsp:txXfrm>
        <a:off x="566507" y="2296663"/>
        <a:ext cx="7469965" cy="53275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C0104A-26AD-48EA-BE3A-46005079B096}"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A7CB36-4BC4-414C-9443-5283705CCA26}" type="slidenum">
              <a:rPr lang="en-US" smtClean="0"/>
              <a:t>‹#›</a:t>
            </a:fld>
            <a:endParaRPr lang="en-US"/>
          </a:p>
        </p:txBody>
      </p:sp>
    </p:spTree>
    <p:extLst>
      <p:ext uri="{BB962C8B-B14F-4D97-AF65-F5344CB8AC3E}">
        <p14:creationId xmlns:p14="http://schemas.microsoft.com/office/powerpoint/2010/main" val="836315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a:t>
            </a:r>
          </a:p>
        </p:txBody>
      </p:sp>
      <p:sp>
        <p:nvSpPr>
          <p:cNvPr id="4" name="Slide Number Placeholder 3"/>
          <p:cNvSpPr>
            <a:spLocks noGrp="1"/>
          </p:cNvSpPr>
          <p:nvPr>
            <p:ph type="sldNum" sz="quarter" idx="5"/>
          </p:nvPr>
        </p:nvSpPr>
        <p:spPr/>
        <p:txBody>
          <a:bodyPr/>
          <a:lstStyle/>
          <a:p>
            <a:fld id="{15A7CB36-4BC4-414C-9443-5283705CCA26}" type="slidenum">
              <a:rPr lang="en-US" smtClean="0"/>
              <a:t>1</a:t>
            </a:fld>
            <a:endParaRPr lang="en-US"/>
          </a:p>
        </p:txBody>
      </p:sp>
    </p:spTree>
    <p:extLst>
      <p:ext uri="{BB962C8B-B14F-4D97-AF65-F5344CB8AC3E}">
        <p14:creationId xmlns:p14="http://schemas.microsoft.com/office/powerpoint/2010/main" val="1998668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Gasoline is one of the United State’s most used fuels.  Automobiles use gasoline to power their internal combustion engines.  The retail price of gasoline averages $3.13 per gallon.  That price is broken down between crude oil, refining, distribution, and taxes.  Seventeen percent of that price is taxes which equates to about $0.53 per gallon.  With that being said, how much impact do taxes have on the price and consumption of gasoline.  One would assume as the price goes up consumers would switch their behavior to use less gasoline.  </a:t>
            </a:r>
          </a:p>
        </p:txBody>
      </p:sp>
      <p:sp>
        <p:nvSpPr>
          <p:cNvPr id="4" name="Slide Number Placeholder 3"/>
          <p:cNvSpPr>
            <a:spLocks noGrp="1"/>
          </p:cNvSpPr>
          <p:nvPr>
            <p:ph type="sldNum" sz="quarter" idx="5"/>
          </p:nvPr>
        </p:nvSpPr>
        <p:spPr/>
        <p:txBody>
          <a:bodyPr/>
          <a:lstStyle/>
          <a:p>
            <a:fld id="{15A7CB36-4BC4-414C-9443-5283705CCA26}" type="slidenum">
              <a:rPr lang="en-US" smtClean="0"/>
              <a:t>2</a:t>
            </a:fld>
            <a:endParaRPr lang="en-US"/>
          </a:p>
        </p:txBody>
      </p:sp>
    </p:spTree>
    <p:extLst>
      <p:ext uri="{BB962C8B-B14F-4D97-AF65-F5344CB8AC3E}">
        <p14:creationId xmlns:p14="http://schemas.microsoft.com/office/powerpoint/2010/main" val="3562712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1385C-2EAF-C34E-7AB8-97A18268F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0C4BB-D82A-6BA2-F29C-C11B8B0226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1730F-F74B-4B9D-11D6-5195A2F93B3A}"/>
              </a:ext>
            </a:extLst>
          </p:cNvPr>
          <p:cNvSpPr>
            <a:spLocks noGrp="1"/>
          </p:cNvSpPr>
          <p:nvPr>
            <p:ph type="body" idx="1"/>
          </p:nvPr>
        </p:nvSpPr>
        <p:spPr/>
        <p:txBody>
          <a:bodyPr/>
          <a:lstStyle/>
          <a:p>
            <a:r>
              <a:rPr lang="en-US" dirty="0"/>
              <a:t>Federal entities provide many data sets to the public for free. I sourced my data sets from the U.S Department of Transportation Bureau of Transportation Statistics, the U.S. Energy Information Administration, and the Federal Reserve Economic Data (FRED). All of these sites provide regular updates on many different statistics that can be used for a variety of proposes.  In this case I’m using them for gasoline tax analysis.  </a:t>
            </a:r>
          </a:p>
          <a:p>
            <a:endParaRPr lang="en-US" dirty="0"/>
          </a:p>
          <a:p>
            <a:r>
              <a:rPr lang="en-US" dirty="0"/>
              <a:t>Tax Rates by Motor Fuel and State provide the tax rate and each month it changes for all states.</a:t>
            </a:r>
          </a:p>
          <a:p>
            <a:r>
              <a:rPr lang="en-US" dirty="0"/>
              <a:t>Monthly Motor Fuel Sales Report by States provide the number of gallons each state sold on a monthly basis.</a:t>
            </a:r>
          </a:p>
          <a:p>
            <a:r>
              <a:rPr lang="en-US" dirty="0"/>
              <a:t>Weekly Retail Gasoline and Diesel Prices has the weekly price per gallon of several different fuel products which I restricted to gasoline only.</a:t>
            </a:r>
          </a:p>
          <a:p>
            <a:r>
              <a:rPr lang="en-US" dirty="0"/>
              <a:t>Gross Domestic Product is the weighted average of Economic Policy Uncertainty for 20 countries.  This data set had multiple time dimensions and the monthly one was used.</a:t>
            </a:r>
          </a:p>
          <a:p>
            <a:endParaRPr lang="en-US" dirty="0"/>
          </a:p>
          <a:p>
            <a:r>
              <a:rPr lang="en-US" dirty="0"/>
              <a:t>Sample of California data combined is displayed in the table.</a:t>
            </a:r>
          </a:p>
        </p:txBody>
      </p:sp>
      <p:sp>
        <p:nvSpPr>
          <p:cNvPr id="4" name="Slide Number Placeholder 3">
            <a:extLst>
              <a:ext uri="{FF2B5EF4-FFF2-40B4-BE49-F238E27FC236}">
                <a16:creationId xmlns:a16="http://schemas.microsoft.com/office/drawing/2014/main" id="{8EAC9056-8F0C-594C-B781-CFE4D58E2DB6}"/>
              </a:ext>
            </a:extLst>
          </p:cNvPr>
          <p:cNvSpPr>
            <a:spLocks noGrp="1"/>
          </p:cNvSpPr>
          <p:nvPr>
            <p:ph type="sldNum" sz="quarter" idx="5"/>
          </p:nvPr>
        </p:nvSpPr>
        <p:spPr/>
        <p:txBody>
          <a:bodyPr/>
          <a:lstStyle/>
          <a:p>
            <a:fld id="{15A7CB36-4BC4-414C-9443-5283705CCA26}" type="slidenum">
              <a:rPr lang="en-US" smtClean="0"/>
              <a:t>3</a:t>
            </a:fld>
            <a:endParaRPr lang="en-US"/>
          </a:p>
        </p:txBody>
      </p:sp>
    </p:spTree>
    <p:extLst>
      <p:ext uri="{BB962C8B-B14F-4D97-AF65-F5344CB8AC3E}">
        <p14:creationId xmlns:p14="http://schemas.microsoft.com/office/powerpoint/2010/main" val="375678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 data is coming from a federal source, so confidence is high that the data is valid.  Risk could be that there is not a correlation or that other economic conditions impact portions of the data.</a:t>
            </a:r>
          </a:p>
          <a:p>
            <a:r>
              <a:rPr lang="en-US" dirty="0"/>
              <a:t>Ethical Considerations – Taxes are controversial, especially in the political world so </a:t>
            </a:r>
            <a:r>
              <a:rPr lang="en-US" dirty="0" err="1"/>
              <a:t>analyss</a:t>
            </a:r>
            <a:r>
              <a:rPr lang="en-US" dirty="0"/>
              <a:t> must be done without political bias</a:t>
            </a:r>
          </a:p>
          <a:p>
            <a:r>
              <a:rPr lang="en-US" dirty="0"/>
              <a:t>Contingency Plan – Find different data sets with socio-economic factors or adjust my problem statement</a:t>
            </a:r>
          </a:p>
        </p:txBody>
      </p:sp>
      <p:sp>
        <p:nvSpPr>
          <p:cNvPr id="4" name="Slide Number Placeholder 3"/>
          <p:cNvSpPr>
            <a:spLocks noGrp="1"/>
          </p:cNvSpPr>
          <p:nvPr>
            <p:ph type="sldNum" sz="quarter" idx="5"/>
          </p:nvPr>
        </p:nvSpPr>
        <p:spPr/>
        <p:txBody>
          <a:bodyPr/>
          <a:lstStyle/>
          <a:p>
            <a:fld id="{15A7CB36-4BC4-414C-9443-5283705CCA26}" type="slidenum">
              <a:rPr lang="en-US" smtClean="0"/>
              <a:t>4</a:t>
            </a:fld>
            <a:endParaRPr lang="en-US"/>
          </a:p>
        </p:txBody>
      </p:sp>
    </p:spTree>
    <p:extLst>
      <p:ext uri="{BB962C8B-B14F-4D97-AF65-F5344CB8AC3E}">
        <p14:creationId xmlns:p14="http://schemas.microsoft.com/office/powerpoint/2010/main" val="2194687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data I have chosen the best model type for analysis will be regression.  I will be using linear regression and possibly Ridge or Lasso regression.  These types of regression models are good at looking at continuous rather than categorical based results.  The goal is to find the best model that uses the best variables and reduces overfitting.  </a:t>
            </a:r>
          </a:p>
        </p:txBody>
      </p:sp>
      <p:sp>
        <p:nvSpPr>
          <p:cNvPr id="4" name="Slide Number Placeholder 3"/>
          <p:cNvSpPr>
            <a:spLocks noGrp="1"/>
          </p:cNvSpPr>
          <p:nvPr>
            <p:ph type="sldNum" sz="quarter" idx="5"/>
          </p:nvPr>
        </p:nvSpPr>
        <p:spPr/>
        <p:txBody>
          <a:bodyPr/>
          <a:lstStyle/>
          <a:p>
            <a:fld id="{15A7CB36-4BC4-414C-9443-5283705CCA26}" type="slidenum">
              <a:rPr lang="en-US" smtClean="0"/>
              <a:t>5</a:t>
            </a:fld>
            <a:endParaRPr lang="en-US"/>
          </a:p>
        </p:txBody>
      </p:sp>
    </p:spTree>
    <p:extLst>
      <p:ext uri="{BB962C8B-B14F-4D97-AF65-F5344CB8AC3E}">
        <p14:creationId xmlns:p14="http://schemas.microsoft.com/office/powerpoint/2010/main" val="1893458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graphs show the California data over time for each of the four variables being evaluated.  You can see the COVID outbreak in early 2020 had a significant impact in all metrics except tax rate – which had started to rise in 2018</a:t>
            </a:r>
            <a:endParaRPr lang="en-US" dirty="0"/>
          </a:p>
          <a:p>
            <a:endParaRPr lang="en-US" dirty="0"/>
          </a:p>
        </p:txBody>
      </p:sp>
      <p:sp>
        <p:nvSpPr>
          <p:cNvPr id="4" name="Slide Number Placeholder 3"/>
          <p:cNvSpPr>
            <a:spLocks noGrp="1"/>
          </p:cNvSpPr>
          <p:nvPr>
            <p:ph type="sldNum" sz="quarter" idx="5"/>
          </p:nvPr>
        </p:nvSpPr>
        <p:spPr/>
        <p:txBody>
          <a:bodyPr/>
          <a:lstStyle/>
          <a:p>
            <a:fld id="{15A7CB36-4BC4-414C-9443-5283705CCA26}" type="slidenum">
              <a:rPr lang="en-US" smtClean="0"/>
              <a:t>6</a:t>
            </a:fld>
            <a:endParaRPr lang="en-US"/>
          </a:p>
        </p:txBody>
      </p:sp>
    </p:spTree>
    <p:extLst>
      <p:ext uri="{BB962C8B-B14F-4D97-AF65-F5344CB8AC3E}">
        <p14:creationId xmlns:p14="http://schemas.microsoft.com/office/powerpoint/2010/main" val="1157266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California tax rate has a negative impact on the number of gallons sold, a positive impact on the retail price, and a positive relationship to the GDP.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Correlation matrix had some impressive results.  Retail prices had a 0.67 correlation with the tax rate, which makes sense.  As the tax price goes up so should the retail price.  GDP also influenced the tax rate positively (0.60) and the number of gallons sold negatively (-0.48).  When GDP increases, the economy grows, and on the inverse the economy is struggling and may even be in a recession.  It’s interesting then that a higher GDP would cause a decrease in the volume of gallons sold.  It does make sense that the tax rate would increase as GDP does.  The correlation between GDP and the retail price itself was 0.19, which is smaller than I would have predicted without looking at the data.  </a:t>
            </a:r>
          </a:p>
          <a:p>
            <a:endParaRPr lang="en-US" dirty="0"/>
          </a:p>
        </p:txBody>
      </p:sp>
      <p:sp>
        <p:nvSpPr>
          <p:cNvPr id="4" name="Slide Number Placeholder 3"/>
          <p:cNvSpPr>
            <a:spLocks noGrp="1"/>
          </p:cNvSpPr>
          <p:nvPr>
            <p:ph type="sldNum" sz="quarter" idx="5"/>
          </p:nvPr>
        </p:nvSpPr>
        <p:spPr/>
        <p:txBody>
          <a:bodyPr/>
          <a:lstStyle/>
          <a:p>
            <a:fld id="{15A7CB36-4BC4-414C-9443-5283705CCA26}" type="slidenum">
              <a:rPr lang="en-US" smtClean="0"/>
              <a:t>7</a:t>
            </a:fld>
            <a:endParaRPr lang="en-US"/>
          </a:p>
        </p:txBody>
      </p:sp>
    </p:spTree>
    <p:extLst>
      <p:ext uri="{BB962C8B-B14F-4D97-AF65-F5344CB8AC3E}">
        <p14:creationId xmlns:p14="http://schemas.microsoft.com/office/powerpoint/2010/main" val="1267578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different models generally work better with diverse types of data.  Linear regression is great for a baseline model.  Ridge and lasso models manage multicollinearity better.  Whereas random forests is a flexible non-linear model.  </a:t>
            </a:r>
          </a:p>
          <a:p>
            <a:endParaRPr lang="en-US" dirty="0"/>
          </a:p>
        </p:txBody>
      </p:sp>
      <p:sp>
        <p:nvSpPr>
          <p:cNvPr id="4" name="Slide Number Placeholder 3"/>
          <p:cNvSpPr>
            <a:spLocks noGrp="1"/>
          </p:cNvSpPr>
          <p:nvPr>
            <p:ph type="sldNum" sz="quarter" idx="5"/>
          </p:nvPr>
        </p:nvSpPr>
        <p:spPr/>
        <p:txBody>
          <a:bodyPr/>
          <a:lstStyle/>
          <a:p>
            <a:fld id="{15A7CB36-4BC4-414C-9443-5283705CCA26}" type="slidenum">
              <a:rPr lang="en-US" smtClean="0"/>
              <a:t>10</a:t>
            </a:fld>
            <a:endParaRPr lang="en-US"/>
          </a:p>
        </p:txBody>
      </p:sp>
    </p:spTree>
    <p:extLst>
      <p:ext uri="{BB962C8B-B14F-4D97-AF65-F5344CB8AC3E}">
        <p14:creationId xmlns:p14="http://schemas.microsoft.com/office/powerpoint/2010/main" val="4186571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these model results I know there are relationships between taxes and the other features.  Using the retail price, gallons sold, and GDP can predict the tax rate.  When just looking at the tax rate alone and its ability to predict the retail price, the models are not as strong.  This means that there are multiple variables that go into predicting the tax rate and price and using just one will not produce a strong model.  My initial proposal was that as taxes go up so should the retail price leading to decreased sales.  The models have shown that they could predict the retail price based on taxes but which much variance.  This tells me that the other features are needed to accurately predict retail prices and volume of gasoline sold.  </a:t>
            </a:r>
          </a:p>
          <a:p>
            <a:r>
              <a:rPr lang="en-US" dirty="0"/>
              <a:t>To be able to deploy a model for this topic, additional models would need to be run that include additional factors and look at different geolocations.  I would start with one of the regions, then look to add some of the other data sets mentioned in the contingency plan section, hoping to find a stronger correlation in variables.</a:t>
            </a:r>
          </a:p>
          <a:p>
            <a:endParaRPr lang="en-US" dirty="0"/>
          </a:p>
        </p:txBody>
      </p:sp>
      <p:sp>
        <p:nvSpPr>
          <p:cNvPr id="4" name="Slide Number Placeholder 3"/>
          <p:cNvSpPr>
            <a:spLocks noGrp="1"/>
          </p:cNvSpPr>
          <p:nvPr>
            <p:ph type="sldNum" sz="quarter" idx="5"/>
          </p:nvPr>
        </p:nvSpPr>
        <p:spPr/>
        <p:txBody>
          <a:bodyPr/>
          <a:lstStyle/>
          <a:p>
            <a:fld id="{15A7CB36-4BC4-414C-9443-5283705CCA26}" type="slidenum">
              <a:rPr lang="en-US" smtClean="0"/>
              <a:t>11</a:t>
            </a:fld>
            <a:endParaRPr lang="en-US"/>
          </a:p>
        </p:txBody>
      </p:sp>
    </p:spTree>
    <p:extLst>
      <p:ext uri="{BB962C8B-B14F-4D97-AF65-F5344CB8AC3E}">
        <p14:creationId xmlns:p14="http://schemas.microsoft.com/office/powerpoint/2010/main" val="2149388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5586B75A-687E-405C-8A0B-8D00578BA2C3}" type="datetimeFigureOut">
              <a:rPr lang="en-US" dirty="0"/>
              <a:pPr/>
              <a:t>11/23/2025</a:t>
            </a:fld>
            <a:endParaRPr lang="en-US" dirty="0"/>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2D3E9E-A95C-48F2-B4BF-A71542E0BE9A}"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2952B5-7A2F-4CC8-B7CE-9234E21C2837}" type="datetimeFigureOut">
              <a:rPr lang="en-US" dirty="0"/>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1DA07A-9201-4B4B-BAF2-015AFA30F520}" type="datetimeFigureOut">
              <a:rPr lang="en-US" dirty="0"/>
              <a:t>11/23/2025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D7E00A-486F-4252-8B1D-E32645521F49}" type="datetimeFigureOut">
              <a:rPr lang="en-US" dirty="0"/>
              <a:t>11/23/2025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FigureOut">
              <a:rPr lang="en-US" dirty="0"/>
              <a:t>11/23/2025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AF6E2C9B-5FA2-460D-9BE7-B0812FC2A6FF}" type="datetimeFigureOut">
              <a:rPr lang="en-US" dirty="0"/>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5586B75A-687E-405C-8A0B-8D00578BA2C3}" type="datetimeFigureOut">
              <a:rPr lang="en-US" dirty="0"/>
              <a:pPr/>
              <a:t>11/23/2025</a:t>
            </a:fld>
            <a:endParaRPr lang="en-US" dirty="0"/>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4E5243-F52A-4D37-9694-EB26C6C31910}"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77B6E1-634A-48DC-9E8B-D894023267EF}"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5586B75A-687E-405C-8A0B-8D00578BA2C3}" type="datetimeFigureOut">
              <a:rPr lang="en-US" dirty="0"/>
              <a:pPr/>
              <a:t>11/23/2025</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dirty="0"/>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241A1-083C-C8BE-70C2-6921C398513C}"/>
              </a:ext>
            </a:extLst>
          </p:cNvPr>
          <p:cNvSpPr>
            <a:spLocks noGrp="1"/>
          </p:cNvSpPr>
          <p:nvPr>
            <p:ph type="ctrTitle"/>
          </p:nvPr>
        </p:nvSpPr>
        <p:spPr/>
        <p:txBody>
          <a:bodyPr/>
          <a:lstStyle/>
          <a:p>
            <a:r>
              <a:rPr lang="en-US" sz="6600" dirty="0"/>
              <a:t>What Impact Does Gasoline Taxes have on Prices and Sales of Gasoline?</a:t>
            </a:r>
            <a:endParaRPr lang="en-US" dirty="0"/>
          </a:p>
        </p:txBody>
      </p:sp>
      <p:sp>
        <p:nvSpPr>
          <p:cNvPr id="3" name="Subtitle 2">
            <a:extLst>
              <a:ext uri="{FF2B5EF4-FFF2-40B4-BE49-F238E27FC236}">
                <a16:creationId xmlns:a16="http://schemas.microsoft.com/office/drawing/2014/main" id="{2849DA00-F96E-DDD2-A0DD-8A3B7D6E600F}"/>
              </a:ext>
            </a:extLst>
          </p:cNvPr>
          <p:cNvSpPr>
            <a:spLocks noGrp="1"/>
          </p:cNvSpPr>
          <p:nvPr>
            <p:ph type="subTitle" idx="1"/>
          </p:nvPr>
        </p:nvSpPr>
        <p:spPr/>
        <p:txBody>
          <a:bodyPr>
            <a:normAutofit lnSpcReduction="10000"/>
          </a:bodyPr>
          <a:lstStyle/>
          <a:p>
            <a:r>
              <a:rPr lang="en-US" dirty="0"/>
              <a:t>DSC 630 Predictive Analytics</a:t>
            </a:r>
          </a:p>
          <a:p>
            <a:r>
              <a:rPr lang="en-US" dirty="0"/>
              <a:t>Caitie Schrotberger</a:t>
            </a:r>
          </a:p>
          <a:p>
            <a:r>
              <a:rPr lang="en-US" dirty="0"/>
              <a:t>Fall 2025</a:t>
            </a:r>
          </a:p>
        </p:txBody>
      </p:sp>
    </p:spTree>
    <p:extLst>
      <p:ext uri="{BB962C8B-B14F-4D97-AF65-F5344CB8AC3E}">
        <p14:creationId xmlns:p14="http://schemas.microsoft.com/office/powerpoint/2010/main" val="3637347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5C3FE1E-0A7F-41BE-A568-1BF85E2E8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0840" y="0"/>
            <a:ext cx="5471160" cy="6858000"/>
          </a:xfrm>
          <a:prstGeom prst="rect">
            <a:avLst/>
          </a:pr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7213E1-1401-88EA-B29F-DB3608AACCEB}"/>
              </a:ext>
            </a:extLst>
          </p:cNvPr>
          <p:cNvSpPr>
            <a:spLocks noGrp="1"/>
          </p:cNvSpPr>
          <p:nvPr>
            <p:ph type="title"/>
          </p:nvPr>
        </p:nvSpPr>
        <p:spPr>
          <a:xfrm>
            <a:off x="7197213" y="499533"/>
            <a:ext cx="4345858" cy="1658198"/>
          </a:xfrm>
        </p:spPr>
        <p:txBody>
          <a:bodyPr>
            <a:normAutofit/>
          </a:bodyPr>
          <a:lstStyle/>
          <a:p>
            <a:r>
              <a:rPr lang="en-US" sz="4100">
                <a:solidFill>
                  <a:srgbClr val="95513F"/>
                </a:solidFill>
              </a:rPr>
              <a:t>Gasoline Tax Impact on Price and Sales</a:t>
            </a:r>
          </a:p>
        </p:txBody>
      </p:sp>
      <p:pic>
        <p:nvPicPr>
          <p:cNvPr id="5" name="Picture 4">
            <a:extLst>
              <a:ext uri="{FF2B5EF4-FFF2-40B4-BE49-F238E27FC236}">
                <a16:creationId xmlns:a16="http://schemas.microsoft.com/office/drawing/2014/main" id="{723C6E8D-D484-A885-A406-F3F53575779A}"/>
              </a:ext>
            </a:extLst>
          </p:cNvPr>
          <p:cNvPicPr>
            <a:picLocks noChangeAspect="1"/>
          </p:cNvPicPr>
          <p:nvPr/>
        </p:nvPicPr>
        <p:blipFill>
          <a:blip r:embed="rId3"/>
          <a:stretch>
            <a:fillRect/>
          </a:stretch>
        </p:blipFill>
        <p:spPr>
          <a:xfrm>
            <a:off x="643192" y="1783411"/>
            <a:ext cx="5451627" cy="2971136"/>
          </a:xfrm>
          <a:prstGeom prst="rect">
            <a:avLst/>
          </a:prstGeom>
        </p:spPr>
      </p:pic>
      <p:sp>
        <p:nvSpPr>
          <p:cNvPr id="3" name="Content Placeholder 2">
            <a:extLst>
              <a:ext uri="{FF2B5EF4-FFF2-40B4-BE49-F238E27FC236}">
                <a16:creationId xmlns:a16="http://schemas.microsoft.com/office/drawing/2014/main" id="{79A1B553-FB31-AF50-5D84-AE1188FBC4CE}"/>
              </a:ext>
            </a:extLst>
          </p:cNvPr>
          <p:cNvSpPr>
            <a:spLocks noGrp="1"/>
          </p:cNvSpPr>
          <p:nvPr>
            <p:ph idx="1"/>
          </p:nvPr>
        </p:nvSpPr>
        <p:spPr>
          <a:xfrm>
            <a:off x="7197213" y="2011680"/>
            <a:ext cx="4345858" cy="3864732"/>
          </a:xfrm>
        </p:spPr>
        <p:txBody>
          <a:bodyPr>
            <a:normAutofit/>
          </a:bodyPr>
          <a:lstStyle/>
          <a:p>
            <a:pPr>
              <a:buFont typeface="Arial" panose="020B0604020202020204" pitchFamily="34" charset="0"/>
              <a:buChar char="•"/>
            </a:pPr>
            <a:r>
              <a:rPr lang="en-US"/>
              <a:t>Country relies heavily on gasoline</a:t>
            </a:r>
          </a:p>
          <a:p>
            <a:pPr>
              <a:buFont typeface="Arial" panose="020B0604020202020204" pitchFamily="34" charset="0"/>
              <a:buChar char="•"/>
            </a:pPr>
            <a:r>
              <a:rPr lang="en-US"/>
              <a:t>17% of the retail price of gasoline is taxes</a:t>
            </a:r>
          </a:p>
          <a:p>
            <a:pPr>
              <a:buFont typeface="Arial" panose="020B0604020202020204" pitchFamily="34" charset="0"/>
              <a:buChar char="•"/>
            </a:pPr>
            <a:r>
              <a:rPr lang="en-US"/>
              <a:t>How do taxes impact the price of gasoline?</a:t>
            </a:r>
          </a:p>
          <a:p>
            <a:pPr>
              <a:buFont typeface="Arial" panose="020B0604020202020204" pitchFamily="34" charset="0"/>
              <a:buChar char="•"/>
            </a:pPr>
            <a:endParaRPr lang="en-US"/>
          </a:p>
          <a:p>
            <a:endParaRPr lang="en-US"/>
          </a:p>
          <a:p>
            <a:pPr marL="0" indent="0">
              <a:buNone/>
            </a:pPr>
            <a:endParaRPr lang="en-US" dirty="0"/>
          </a:p>
        </p:txBody>
      </p:sp>
    </p:spTree>
    <p:extLst>
      <p:ext uri="{BB962C8B-B14F-4D97-AF65-F5344CB8AC3E}">
        <p14:creationId xmlns:p14="http://schemas.microsoft.com/office/powerpoint/2010/main" val="1019104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95220E-AEA8-C1A4-6994-33A8B4027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AAD62B-B604-76D2-B1AF-964379CCC1E6}"/>
              </a:ext>
            </a:extLst>
          </p:cNvPr>
          <p:cNvSpPr>
            <a:spLocks noGrp="1"/>
          </p:cNvSpPr>
          <p:nvPr>
            <p:ph type="title"/>
          </p:nvPr>
        </p:nvSpPr>
        <p:spPr>
          <a:xfrm>
            <a:off x="339437" y="437188"/>
            <a:ext cx="5142271" cy="1658198"/>
          </a:xfrm>
        </p:spPr>
        <p:txBody>
          <a:bodyPr>
            <a:normAutofit/>
          </a:bodyPr>
          <a:lstStyle/>
          <a:p>
            <a:r>
              <a:rPr lang="en-US" dirty="0">
                <a:solidFill>
                  <a:srgbClr val="202465"/>
                </a:solidFill>
              </a:rPr>
              <a:t>Data Selection</a:t>
            </a:r>
          </a:p>
        </p:txBody>
      </p:sp>
      <p:pic>
        <p:nvPicPr>
          <p:cNvPr id="7" name="Picture 6">
            <a:extLst>
              <a:ext uri="{FF2B5EF4-FFF2-40B4-BE49-F238E27FC236}">
                <a16:creationId xmlns:a16="http://schemas.microsoft.com/office/drawing/2014/main" id="{8A9DD33A-9B4A-B46E-D1C5-5FF6EBC7F3D3}"/>
              </a:ext>
            </a:extLst>
          </p:cNvPr>
          <p:cNvPicPr>
            <a:picLocks noChangeAspect="1"/>
          </p:cNvPicPr>
          <p:nvPr/>
        </p:nvPicPr>
        <p:blipFill>
          <a:blip r:embed="rId3"/>
          <a:stretch>
            <a:fillRect/>
          </a:stretch>
        </p:blipFill>
        <p:spPr>
          <a:xfrm>
            <a:off x="6285455" y="873019"/>
            <a:ext cx="5451627" cy="4293156"/>
          </a:xfrm>
          <a:prstGeom prst="rect">
            <a:avLst/>
          </a:prstGeom>
        </p:spPr>
      </p:pic>
      <p:sp>
        <p:nvSpPr>
          <p:cNvPr id="3" name="Content Placeholder 2">
            <a:extLst>
              <a:ext uri="{FF2B5EF4-FFF2-40B4-BE49-F238E27FC236}">
                <a16:creationId xmlns:a16="http://schemas.microsoft.com/office/drawing/2014/main" id="{0F38E9A4-C745-476C-CB38-B30B869ED183}"/>
              </a:ext>
            </a:extLst>
          </p:cNvPr>
          <p:cNvSpPr>
            <a:spLocks noGrp="1"/>
          </p:cNvSpPr>
          <p:nvPr>
            <p:ph idx="1"/>
          </p:nvPr>
        </p:nvSpPr>
        <p:spPr>
          <a:xfrm>
            <a:off x="339436" y="1783080"/>
            <a:ext cx="5142271" cy="3864732"/>
          </a:xfrm>
        </p:spPr>
        <p:txBody>
          <a:bodyPr>
            <a:normAutofit/>
          </a:bodyPr>
          <a:lstStyle/>
          <a:p>
            <a:pPr marL="0" indent="0">
              <a:buNone/>
            </a:pPr>
            <a:r>
              <a:rPr lang="en-US" sz="1500" dirty="0"/>
              <a:t>Using publicly available data sets:</a:t>
            </a:r>
          </a:p>
          <a:p>
            <a:pPr>
              <a:buFont typeface="Arial" panose="020B0604020202020204" pitchFamily="34" charset="0"/>
              <a:buChar char="•"/>
            </a:pPr>
            <a:r>
              <a:rPr lang="en-US" sz="1500" dirty="0"/>
              <a:t>Tax Rates by Motor Fuel and State</a:t>
            </a:r>
          </a:p>
          <a:p>
            <a:pPr marL="460375" lvl="5">
              <a:buFont typeface="Arial" panose="020B0604020202020204" pitchFamily="34" charset="0"/>
              <a:buChar char="•"/>
            </a:pPr>
            <a:r>
              <a:rPr lang="en-US" sz="1500" dirty="0"/>
              <a:t>11 columns with annual data for 2,332 rows</a:t>
            </a:r>
          </a:p>
          <a:p>
            <a:pPr>
              <a:buFont typeface="Arial" panose="020B0604020202020204" pitchFamily="34" charset="0"/>
              <a:buChar char="•"/>
            </a:pPr>
            <a:r>
              <a:rPr lang="en-US" sz="1500" dirty="0"/>
              <a:t>Monthly Motor Fuel Sales Reported by States</a:t>
            </a:r>
          </a:p>
          <a:p>
            <a:pPr marL="460375" lvl="5">
              <a:buFont typeface="Arial" panose="020B0604020202020204" pitchFamily="34" charset="0"/>
              <a:buChar char="•"/>
            </a:pPr>
            <a:r>
              <a:rPr lang="en-US" sz="1500" dirty="0"/>
              <a:t>8 columns with 15,252 rows</a:t>
            </a:r>
          </a:p>
          <a:p>
            <a:pPr>
              <a:buFont typeface="Arial" panose="020B0604020202020204" pitchFamily="34" charset="0"/>
              <a:buChar char="•"/>
            </a:pPr>
            <a:r>
              <a:rPr lang="en-US" sz="1500" dirty="0"/>
              <a:t>Weekly Retail Gasoline and Diesel Prices</a:t>
            </a:r>
          </a:p>
          <a:p>
            <a:pPr marL="460375" lvl="5">
              <a:buFont typeface="Arial" panose="020B0604020202020204" pitchFamily="34" charset="0"/>
              <a:buChar char="•"/>
            </a:pPr>
            <a:r>
              <a:rPr lang="en-US" sz="1500" dirty="0"/>
              <a:t>4 data sets based on geolocation</a:t>
            </a:r>
          </a:p>
          <a:p>
            <a:pPr>
              <a:buFont typeface="Arial" panose="020B0604020202020204" pitchFamily="34" charset="0"/>
              <a:buChar char="•"/>
            </a:pPr>
            <a:r>
              <a:rPr lang="en-US" sz="1500" dirty="0"/>
              <a:t>Gross Domestic Product</a:t>
            </a:r>
          </a:p>
          <a:p>
            <a:pPr marL="460375" lvl="5">
              <a:buFont typeface="Arial" panose="020B0604020202020204" pitchFamily="34" charset="0"/>
              <a:buChar char="•"/>
            </a:pPr>
            <a:r>
              <a:rPr lang="en-US" sz="1500" dirty="0"/>
              <a:t>Monthly data from 1997 to current</a:t>
            </a:r>
          </a:p>
          <a:p>
            <a:pPr>
              <a:buFont typeface="Arial" panose="020B0604020202020204" pitchFamily="34" charset="0"/>
              <a:buChar char="•"/>
            </a:pPr>
            <a:r>
              <a:rPr lang="en-US" sz="1500" dirty="0"/>
              <a:t>Data then complied to sync up data elements with time frames.</a:t>
            </a:r>
          </a:p>
          <a:p>
            <a:pPr>
              <a:buFont typeface="Arial" panose="020B0604020202020204" pitchFamily="34" charset="0"/>
              <a:buChar char="•"/>
            </a:pPr>
            <a:endParaRPr lang="en-US" sz="1500" dirty="0"/>
          </a:p>
          <a:p>
            <a:pPr>
              <a:buFont typeface="Arial" panose="020B0604020202020204" pitchFamily="34" charset="0"/>
              <a:buChar char="•"/>
            </a:pPr>
            <a:endParaRPr lang="en-US" sz="1500" dirty="0"/>
          </a:p>
          <a:p>
            <a:endParaRPr lang="en-US" sz="1500" dirty="0"/>
          </a:p>
          <a:p>
            <a:pPr marL="0" indent="0">
              <a:buNone/>
            </a:pPr>
            <a:endParaRPr lang="en-US" sz="1500" dirty="0"/>
          </a:p>
        </p:txBody>
      </p:sp>
    </p:spTree>
    <p:extLst>
      <p:ext uri="{BB962C8B-B14F-4D97-AF65-F5344CB8AC3E}">
        <p14:creationId xmlns:p14="http://schemas.microsoft.com/office/powerpoint/2010/main" val="735307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2E490-AF73-477B-6ED2-23423A19CC2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A82705A-1D08-CDFA-BD07-CFDC51AE61B3}"/>
              </a:ext>
            </a:extLst>
          </p:cNvPr>
          <p:cNvSpPr>
            <a:spLocks noGrp="1"/>
          </p:cNvSpPr>
          <p:nvPr>
            <p:ph type="title"/>
          </p:nvPr>
        </p:nvSpPr>
        <p:spPr>
          <a:xfrm>
            <a:off x="7725336" y="1900434"/>
            <a:ext cx="4466664" cy="2194195"/>
          </a:xfrm>
        </p:spPr>
        <p:txBody>
          <a:bodyPr/>
          <a:lstStyle/>
          <a:p>
            <a:r>
              <a:rPr lang="en-US" dirty="0"/>
              <a:t>Risks</a:t>
            </a:r>
            <a:br>
              <a:rPr lang="en-US" dirty="0"/>
            </a:br>
            <a:r>
              <a:rPr lang="en-US" dirty="0"/>
              <a:t>Ethical Considerations</a:t>
            </a:r>
            <a:br>
              <a:rPr lang="en-US" dirty="0"/>
            </a:br>
            <a:r>
              <a:rPr lang="en-US" dirty="0"/>
              <a:t>Contingency Plan</a:t>
            </a:r>
          </a:p>
        </p:txBody>
      </p:sp>
      <p:sp>
        <p:nvSpPr>
          <p:cNvPr id="5" name="Content Placeholder 4">
            <a:extLst>
              <a:ext uri="{FF2B5EF4-FFF2-40B4-BE49-F238E27FC236}">
                <a16:creationId xmlns:a16="http://schemas.microsoft.com/office/drawing/2014/main" id="{98C5153A-F82A-3878-3849-34B3BE8B4F03}"/>
              </a:ext>
            </a:extLst>
          </p:cNvPr>
          <p:cNvSpPr>
            <a:spLocks noGrp="1"/>
          </p:cNvSpPr>
          <p:nvPr>
            <p:ph idx="1"/>
          </p:nvPr>
        </p:nvSpPr>
        <p:spPr>
          <a:xfrm>
            <a:off x="762000" y="762000"/>
            <a:ext cx="6096000" cy="5531224"/>
          </a:xfrm>
        </p:spPr>
        <p:txBody>
          <a:bodyPr>
            <a:normAutofit lnSpcReduction="10000"/>
          </a:bodyPr>
          <a:lstStyle/>
          <a:p>
            <a:pPr marL="0" indent="0">
              <a:lnSpc>
                <a:spcPct val="105000"/>
              </a:lnSpc>
              <a:buNone/>
            </a:pPr>
            <a:r>
              <a:rPr lang="en-US" sz="1600" b="1" dirty="0"/>
              <a:t>Risks</a:t>
            </a:r>
          </a:p>
          <a:p>
            <a:pPr marL="230188" indent="-90488">
              <a:lnSpc>
                <a:spcPct val="105000"/>
              </a:lnSpc>
              <a:buFont typeface="Arial" panose="020B0604020202020204" pitchFamily="34" charset="0"/>
              <a:buChar char="•"/>
            </a:pPr>
            <a:r>
              <a:rPr lang="en-US" sz="1600" dirty="0"/>
              <a:t>Data not showing a correlation, state specific regulations, and economic conditions.  </a:t>
            </a:r>
          </a:p>
          <a:p>
            <a:pPr marL="0" indent="0">
              <a:lnSpc>
                <a:spcPct val="105000"/>
              </a:lnSpc>
              <a:buNone/>
            </a:pPr>
            <a:r>
              <a:rPr lang="en-US" sz="1600" b="1" dirty="0"/>
              <a:t>Ethical Considerations</a:t>
            </a:r>
          </a:p>
          <a:p>
            <a:pPr marL="230188" indent="-90488">
              <a:lnSpc>
                <a:spcPct val="105000"/>
              </a:lnSpc>
              <a:buFont typeface="Arial" panose="020B0604020202020204" pitchFamily="34" charset="0"/>
              <a:buChar char="•"/>
            </a:pPr>
            <a:r>
              <a:rPr lang="en-US" sz="1600" dirty="0"/>
              <a:t>For ethical implications, taxes can be a controversial topic, especially in the political world, analysis must be done so with no political bias.  </a:t>
            </a:r>
          </a:p>
          <a:p>
            <a:pPr marL="0" indent="0">
              <a:lnSpc>
                <a:spcPct val="105000"/>
              </a:lnSpc>
              <a:buNone/>
            </a:pPr>
            <a:r>
              <a:rPr lang="en-US" sz="1600" b="1" dirty="0"/>
              <a:t>Contingency Plan</a:t>
            </a:r>
          </a:p>
          <a:p>
            <a:pPr marL="230188" indent="-90488">
              <a:lnSpc>
                <a:spcPct val="105000"/>
              </a:lnSpc>
              <a:buFont typeface="Arial" panose="020B0604020202020204" pitchFamily="34" charset="0"/>
              <a:buChar char="•"/>
            </a:pPr>
            <a:r>
              <a:rPr lang="en-US" sz="1600" dirty="0"/>
              <a:t>Find different data sets:</a:t>
            </a:r>
          </a:p>
          <a:p>
            <a:pPr marL="628650" lvl="1" indent="-112713">
              <a:lnSpc>
                <a:spcPct val="105000"/>
              </a:lnSpc>
              <a:buFont typeface="Arial" panose="020B0604020202020204" pitchFamily="34" charset="0"/>
              <a:buChar char="•"/>
            </a:pPr>
            <a:r>
              <a:rPr lang="en-US" sz="1600" dirty="0"/>
              <a:t>crude oil production</a:t>
            </a:r>
          </a:p>
          <a:p>
            <a:pPr marL="628650" lvl="1" indent="-112713">
              <a:lnSpc>
                <a:spcPct val="105000"/>
              </a:lnSpc>
              <a:buFont typeface="Arial" panose="020B0604020202020204" pitchFamily="34" charset="0"/>
              <a:buChar char="•"/>
            </a:pPr>
            <a:r>
              <a:rPr lang="en-US" sz="1600" dirty="0"/>
              <a:t>socio-economic factors such as </a:t>
            </a:r>
          </a:p>
          <a:p>
            <a:pPr marL="969963" lvl="2" indent="-111125">
              <a:lnSpc>
                <a:spcPct val="105000"/>
              </a:lnSpc>
              <a:spcBef>
                <a:spcPts val="0"/>
              </a:spcBef>
              <a:buFont typeface="Arial" panose="020B0604020202020204" pitchFamily="34" charset="0"/>
              <a:buChar char="•"/>
            </a:pPr>
            <a:r>
              <a:rPr lang="en-US" sz="1400" i="0" dirty="0"/>
              <a:t>Unemployment</a:t>
            </a:r>
          </a:p>
          <a:p>
            <a:pPr marL="969963" lvl="2" indent="-111125">
              <a:lnSpc>
                <a:spcPct val="105000"/>
              </a:lnSpc>
              <a:spcBef>
                <a:spcPts val="0"/>
              </a:spcBef>
              <a:buFont typeface="Arial" panose="020B0604020202020204" pitchFamily="34" charset="0"/>
              <a:buChar char="•"/>
            </a:pPr>
            <a:r>
              <a:rPr lang="en-US" sz="1400" i="0" dirty="0"/>
              <a:t>consumer confidence</a:t>
            </a:r>
          </a:p>
          <a:p>
            <a:pPr marL="969963" lvl="2" indent="-111125">
              <a:lnSpc>
                <a:spcPct val="105000"/>
              </a:lnSpc>
              <a:spcBef>
                <a:spcPts val="0"/>
              </a:spcBef>
              <a:buFont typeface="Arial" panose="020B0604020202020204" pitchFamily="34" charset="0"/>
              <a:buChar char="•"/>
            </a:pPr>
            <a:r>
              <a:rPr lang="en-US" sz="1400" i="0" dirty="0"/>
              <a:t>consumer spending</a:t>
            </a:r>
          </a:p>
          <a:p>
            <a:pPr marL="969963" lvl="2" indent="-111125">
              <a:lnSpc>
                <a:spcPct val="105000"/>
              </a:lnSpc>
              <a:spcBef>
                <a:spcPts val="0"/>
              </a:spcBef>
              <a:buFont typeface="Arial" panose="020B0604020202020204" pitchFamily="34" charset="0"/>
              <a:buChar char="•"/>
            </a:pPr>
            <a:r>
              <a:rPr lang="en-US" sz="1400" i="0" dirty="0"/>
              <a:t>inflation</a:t>
            </a:r>
          </a:p>
          <a:p>
            <a:pPr marL="969963" lvl="2" indent="-111125">
              <a:lnSpc>
                <a:spcPct val="105000"/>
              </a:lnSpc>
              <a:spcBef>
                <a:spcPts val="0"/>
              </a:spcBef>
              <a:buFont typeface="Arial" panose="020B0604020202020204" pitchFamily="34" charset="0"/>
              <a:buChar char="•"/>
            </a:pPr>
            <a:r>
              <a:rPr lang="en-US" sz="1400" i="0" dirty="0"/>
              <a:t>currency rates</a:t>
            </a:r>
          </a:p>
          <a:p>
            <a:pPr marL="969963" lvl="2" indent="-111125">
              <a:lnSpc>
                <a:spcPct val="105000"/>
              </a:lnSpc>
              <a:spcBef>
                <a:spcPts val="0"/>
              </a:spcBef>
              <a:buFont typeface="Arial" panose="020B0604020202020204" pitchFamily="34" charset="0"/>
              <a:buChar char="•"/>
            </a:pPr>
            <a:r>
              <a:rPr lang="en-US" sz="1400" i="0" dirty="0"/>
              <a:t>population changes</a:t>
            </a:r>
          </a:p>
          <a:p>
            <a:pPr marL="969963" lvl="2" indent="-111125">
              <a:lnSpc>
                <a:spcPct val="105000"/>
              </a:lnSpc>
              <a:spcBef>
                <a:spcPts val="0"/>
              </a:spcBef>
              <a:buFont typeface="Arial" panose="020B0604020202020204" pitchFamily="34" charset="0"/>
              <a:buChar char="•"/>
            </a:pPr>
            <a:r>
              <a:rPr lang="en-US" sz="1400" i="0" dirty="0"/>
              <a:t>political changes</a:t>
            </a:r>
          </a:p>
          <a:p>
            <a:pPr marL="230188" lvl="1" indent="-90488">
              <a:lnSpc>
                <a:spcPct val="105000"/>
              </a:lnSpc>
              <a:spcBef>
                <a:spcPts val="1300"/>
              </a:spcBef>
              <a:buFont typeface="Arial" panose="020B0604020202020204" pitchFamily="34" charset="0"/>
              <a:buChar char="•"/>
            </a:pPr>
            <a:r>
              <a:rPr lang="en-US" sz="1600" dirty="0"/>
              <a:t>Adjust my problem statement</a:t>
            </a:r>
          </a:p>
        </p:txBody>
      </p:sp>
    </p:spTree>
    <p:extLst>
      <p:ext uri="{BB962C8B-B14F-4D97-AF65-F5344CB8AC3E}">
        <p14:creationId xmlns:p14="http://schemas.microsoft.com/office/powerpoint/2010/main" val="1644681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9BB6-884C-616D-12E7-2312341BBE3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5946FB0-6B2F-D13B-FD8C-F28429ADF644}"/>
              </a:ext>
            </a:extLst>
          </p:cNvPr>
          <p:cNvSpPr>
            <a:spLocks noGrp="1"/>
          </p:cNvSpPr>
          <p:nvPr>
            <p:ph type="title"/>
          </p:nvPr>
        </p:nvSpPr>
        <p:spPr/>
        <p:txBody>
          <a:bodyPr/>
          <a:lstStyle/>
          <a:p>
            <a:r>
              <a:rPr lang="en-US" dirty="0"/>
              <a:t>Data Models and Evaluation Plan</a:t>
            </a:r>
          </a:p>
        </p:txBody>
      </p:sp>
      <p:graphicFrame>
        <p:nvGraphicFramePr>
          <p:cNvPr id="10" name="Content Placeholder 7">
            <a:extLst>
              <a:ext uri="{FF2B5EF4-FFF2-40B4-BE49-F238E27FC236}">
                <a16:creationId xmlns:a16="http://schemas.microsoft.com/office/drawing/2014/main" id="{2808017A-CD10-0D11-ACD2-EB3E76D24C66}"/>
              </a:ext>
            </a:extLst>
          </p:cNvPr>
          <p:cNvGraphicFramePr>
            <a:graphicFrameLocks noGrp="1"/>
          </p:cNvGraphicFramePr>
          <p:nvPr>
            <p:ph idx="1"/>
          </p:nvPr>
        </p:nvGraphicFramePr>
        <p:xfrm>
          <a:off x="676656" y="2011680"/>
          <a:ext cx="10753725" cy="37661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6592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D333CBE-B699-4E3B-9F45-C045F7734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B231438-FCE8-47FC-7611-20BB752FCE99}"/>
              </a:ext>
            </a:extLst>
          </p:cNvPr>
          <p:cNvSpPr>
            <a:spLocks noGrp="1"/>
          </p:cNvSpPr>
          <p:nvPr>
            <p:ph type="title"/>
          </p:nvPr>
        </p:nvSpPr>
        <p:spPr>
          <a:xfrm>
            <a:off x="603504" y="770467"/>
            <a:ext cx="4205568" cy="3352800"/>
          </a:xfrm>
        </p:spPr>
        <p:txBody>
          <a:bodyPr vert="horz" lIns="91440" tIns="45720" rIns="91440" bIns="45720" rtlCol="0" anchor="b">
            <a:normAutofit/>
          </a:bodyPr>
          <a:lstStyle/>
          <a:p>
            <a:pPr>
              <a:lnSpc>
                <a:spcPct val="80000"/>
              </a:lnSpc>
            </a:pPr>
            <a:r>
              <a:rPr lang="en-US" sz="7200" kern="1200" spc="-120" baseline="0">
                <a:solidFill>
                  <a:srgbClr val="FFFFFF"/>
                </a:solidFill>
                <a:latin typeface="+mj-lt"/>
                <a:ea typeface="+mj-ea"/>
                <a:cs typeface="+mj-cs"/>
              </a:rPr>
              <a:t>California Data</a:t>
            </a:r>
          </a:p>
        </p:txBody>
      </p:sp>
      <p:sp>
        <p:nvSpPr>
          <p:cNvPr id="11" name="Rectangle 10">
            <a:extLst>
              <a:ext uri="{FF2B5EF4-FFF2-40B4-BE49-F238E27FC236}">
                <a16:creationId xmlns:a16="http://schemas.microsoft.com/office/drawing/2014/main" id="{FCA118C4-32A6-466D-8453-BA738103A0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2536" y="0"/>
            <a:ext cx="673946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different colored lines&#10;&#10;AI-generated content may be incorrect.">
            <a:extLst>
              <a:ext uri="{FF2B5EF4-FFF2-40B4-BE49-F238E27FC236}">
                <a16:creationId xmlns:a16="http://schemas.microsoft.com/office/drawing/2014/main" id="{14E30377-E54D-A2FE-084C-E8D45D8690DD}"/>
              </a:ext>
            </a:extLst>
          </p:cNvPr>
          <p:cNvPicPr>
            <a:picLocks noChangeAspect="1"/>
          </p:cNvPicPr>
          <p:nvPr/>
        </p:nvPicPr>
        <p:blipFill>
          <a:blip r:embed="rId3"/>
          <a:stretch>
            <a:fillRect/>
          </a:stretch>
        </p:blipFill>
        <p:spPr>
          <a:xfrm>
            <a:off x="6274965" y="318452"/>
            <a:ext cx="5094605" cy="6221095"/>
          </a:xfrm>
          <a:prstGeom prst="rect">
            <a:avLst/>
          </a:prstGeom>
        </p:spPr>
      </p:pic>
    </p:spTree>
    <p:extLst>
      <p:ext uri="{BB962C8B-B14F-4D97-AF65-F5344CB8AC3E}">
        <p14:creationId xmlns:p14="http://schemas.microsoft.com/office/powerpoint/2010/main" val="3862890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3009D5-71A5-FE17-15A9-3984ADB8CEEB}"/>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B5C3FE1E-0A7F-41BE-A568-1BF85E2E8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0840" y="0"/>
            <a:ext cx="5471160" cy="6858000"/>
          </a:xfrm>
          <a:prstGeom prst="rect">
            <a:avLst/>
          </a:pr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1075E502-E94D-6B89-F532-AEE7A012DD15}"/>
              </a:ext>
            </a:extLst>
          </p:cNvPr>
          <p:cNvSpPr>
            <a:spLocks noGrp="1"/>
          </p:cNvSpPr>
          <p:nvPr>
            <p:ph type="title"/>
          </p:nvPr>
        </p:nvSpPr>
        <p:spPr>
          <a:xfrm>
            <a:off x="7197213" y="499533"/>
            <a:ext cx="4345858" cy="1658198"/>
          </a:xfrm>
        </p:spPr>
        <p:txBody>
          <a:bodyPr>
            <a:normAutofit/>
          </a:bodyPr>
          <a:lstStyle/>
          <a:p>
            <a:r>
              <a:rPr lang="en-US" sz="4800"/>
              <a:t>Confusion Matrix</a:t>
            </a:r>
          </a:p>
        </p:txBody>
      </p:sp>
      <p:sp>
        <p:nvSpPr>
          <p:cNvPr id="10" name="Content Placeholder 9">
            <a:extLst>
              <a:ext uri="{FF2B5EF4-FFF2-40B4-BE49-F238E27FC236}">
                <a16:creationId xmlns:a16="http://schemas.microsoft.com/office/drawing/2014/main" id="{85095B2C-B1B5-B07E-A6A9-C277BE2D82C4}"/>
              </a:ext>
            </a:extLst>
          </p:cNvPr>
          <p:cNvSpPr>
            <a:spLocks noGrp="1"/>
          </p:cNvSpPr>
          <p:nvPr>
            <p:ph idx="1"/>
          </p:nvPr>
        </p:nvSpPr>
        <p:spPr>
          <a:xfrm>
            <a:off x="7197213" y="2011680"/>
            <a:ext cx="4345858" cy="3864732"/>
          </a:xfrm>
        </p:spPr>
        <p:txBody>
          <a:bodyPr>
            <a:normAutofit/>
          </a:bodyPr>
          <a:lstStyle/>
          <a:p>
            <a:r>
              <a:rPr lang="en-US" dirty="0"/>
              <a:t>The California tax rate has:</a:t>
            </a:r>
          </a:p>
          <a:p>
            <a:pPr marL="230188" indent="-90488">
              <a:lnSpc>
                <a:spcPct val="105000"/>
              </a:lnSpc>
              <a:buFont typeface="Arial" panose="020B0604020202020204" pitchFamily="34" charset="0"/>
              <a:buChar char="•"/>
            </a:pPr>
            <a:r>
              <a:rPr lang="en-US" sz="2000" dirty="0"/>
              <a:t>a negative impact on the number of gallons sold</a:t>
            </a:r>
          </a:p>
          <a:p>
            <a:pPr marL="230188" indent="-90488">
              <a:lnSpc>
                <a:spcPct val="105000"/>
              </a:lnSpc>
              <a:buFont typeface="Arial" panose="020B0604020202020204" pitchFamily="34" charset="0"/>
              <a:buChar char="•"/>
            </a:pPr>
            <a:r>
              <a:rPr lang="en-US" sz="2000" dirty="0"/>
              <a:t>a positive impact on the retail price</a:t>
            </a:r>
          </a:p>
          <a:p>
            <a:pPr marL="230188" indent="-90488">
              <a:lnSpc>
                <a:spcPct val="105000"/>
              </a:lnSpc>
              <a:buFont typeface="Arial" panose="020B0604020202020204" pitchFamily="34" charset="0"/>
              <a:buChar char="•"/>
            </a:pPr>
            <a:r>
              <a:rPr lang="en-US" sz="2000" dirty="0"/>
              <a:t>a positive relationship to the GDP.</a:t>
            </a:r>
          </a:p>
        </p:txBody>
      </p:sp>
      <p:graphicFrame>
        <p:nvGraphicFramePr>
          <p:cNvPr id="12" name="Table 11">
            <a:extLst>
              <a:ext uri="{FF2B5EF4-FFF2-40B4-BE49-F238E27FC236}">
                <a16:creationId xmlns:a16="http://schemas.microsoft.com/office/drawing/2014/main" id="{644A9941-8D1F-8CC4-37DF-942F8AA507D6}"/>
              </a:ext>
            </a:extLst>
          </p:cNvPr>
          <p:cNvGraphicFramePr>
            <a:graphicFrameLocks noGrp="1"/>
          </p:cNvGraphicFramePr>
          <p:nvPr>
            <p:extLst>
              <p:ext uri="{D42A27DB-BD31-4B8C-83A1-F6EECF244321}">
                <p14:modId xmlns:p14="http://schemas.microsoft.com/office/powerpoint/2010/main" val="2244892566"/>
              </p:ext>
            </p:extLst>
          </p:nvPr>
        </p:nvGraphicFramePr>
        <p:xfrm>
          <a:off x="648929" y="2434260"/>
          <a:ext cx="5638945" cy="1989480"/>
        </p:xfrm>
        <a:graphic>
          <a:graphicData uri="http://schemas.openxmlformats.org/drawingml/2006/table">
            <a:tbl>
              <a:tblPr firstRow="1" firstCol="1" bandRow="1"/>
              <a:tblGrid>
                <a:gridCol w="1229208">
                  <a:extLst>
                    <a:ext uri="{9D8B030D-6E8A-4147-A177-3AD203B41FA5}">
                      <a16:colId xmlns:a16="http://schemas.microsoft.com/office/drawing/2014/main" val="964569359"/>
                    </a:ext>
                  </a:extLst>
                </a:gridCol>
                <a:gridCol w="1229208">
                  <a:extLst>
                    <a:ext uri="{9D8B030D-6E8A-4147-A177-3AD203B41FA5}">
                      <a16:colId xmlns:a16="http://schemas.microsoft.com/office/drawing/2014/main" val="1936336315"/>
                    </a:ext>
                  </a:extLst>
                </a:gridCol>
                <a:gridCol w="1044604">
                  <a:extLst>
                    <a:ext uri="{9D8B030D-6E8A-4147-A177-3AD203B41FA5}">
                      <a16:colId xmlns:a16="http://schemas.microsoft.com/office/drawing/2014/main" val="889178819"/>
                    </a:ext>
                  </a:extLst>
                </a:gridCol>
                <a:gridCol w="1176728">
                  <a:extLst>
                    <a:ext uri="{9D8B030D-6E8A-4147-A177-3AD203B41FA5}">
                      <a16:colId xmlns:a16="http://schemas.microsoft.com/office/drawing/2014/main" val="4045220066"/>
                    </a:ext>
                  </a:extLst>
                </a:gridCol>
                <a:gridCol w="959197">
                  <a:extLst>
                    <a:ext uri="{9D8B030D-6E8A-4147-A177-3AD203B41FA5}">
                      <a16:colId xmlns:a16="http://schemas.microsoft.com/office/drawing/2014/main" val="1423326064"/>
                    </a:ext>
                  </a:extLst>
                </a:gridCol>
              </a:tblGrid>
              <a:tr h="514248">
                <a:tc>
                  <a:txBody>
                    <a:bodyPr/>
                    <a:lstStyle/>
                    <a:p>
                      <a:pPr marL="0" marR="0" indent="0" algn="l">
                        <a:lnSpc>
                          <a:spcPct val="200000"/>
                        </a:lnSpc>
                        <a:buNone/>
                      </a:pPr>
                      <a:r>
                        <a:rPr lang="en-US" sz="140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 </a:t>
                      </a:r>
                      <a:endParaRPr lang="en-US" sz="14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a:lnSpc>
                          <a:spcPct val="200000"/>
                        </a:lnSpc>
                        <a:buNone/>
                      </a:pPr>
                      <a:r>
                        <a:rPr lang="en-US" sz="1400" dirty="0" err="1">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Gallons_Sold</a:t>
                      </a:r>
                      <a:endParaRPr lang="en-US" sz="14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a:lnSpc>
                          <a:spcPct val="200000"/>
                        </a:lnSpc>
                        <a:buNone/>
                      </a:pPr>
                      <a:r>
                        <a:rPr lang="en-US" sz="140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Retail Prices</a:t>
                      </a:r>
                      <a:endParaRPr lang="en-US" sz="140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a:lnSpc>
                          <a:spcPct val="200000"/>
                        </a:lnSpc>
                        <a:buNone/>
                      </a:pPr>
                      <a:r>
                        <a:rPr lang="en-US" sz="140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CA_Tax_Rate</a:t>
                      </a:r>
                      <a:endParaRPr lang="en-US" sz="140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a:lnSpc>
                          <a:spcPct val="200000"/>
                        </a:lnSpc>
                        <a:buNone/>
                      </a:pPr>
                      <a:r>
                        <a:rPr lang="en-US" sz="140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GDP </a:t>
                      </a:r>
                      <a:endParaRPr lang="en-US" sz="140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7561047"/>
                  </a:ext>
                </a:extLst>
              </a:tr>
              <a:tr h="283560">
                <a:tc>
                  <a:txBody>
                    <a:bodyPr/>
                    <a:lstStyle/>
                    <a:p>
                      <a:pPr marL="0" marR="0" indent="0" algn="l">
                        <a:lnSpc>
                          <a:spcPct val="200000"/>
                        </a:lnSpc>
                        <a:buNone/>
                      </a:pPr>
                      <a:r>
                        <a:rPr lang="en-US" sz="140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Gallons_Sold</a:t>
                      </a:r>
                      <a:endParaRPr lang="en-US" sz="140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1.000000</a:t>
                      </a:r>
                      <a:endParaRPr lang="en-US" sz="140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dirty="0">
                          <a:solidFill>
                            <a:srgbClr val="FF0000"/>
                          </a:solidFill>
                          <a:effectLst/>
                          <a:latin typeface="Aptos Narrow" panose="020B0004020202020204" pitchFamily="34" charset="0"/>
                          <a:ea typeface="Times New Roman" panose="02020603050405020304" pitchFamily="18" charset="0"/>
                          <a:cs typeface="Times New Roman" panose="02020603050405020304" pitchFamily="18" charset="0"/>
                        </a:rPr>
                        <a:t>-0.219050</a:t>
                      </a:r>
                      <a:endParaRPr lang="en-US" sz="14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dirty="0">
                          <a:solidFill>
                            <a:srgbClr val="FF0000"/>
                          </a:solidFill>
                          <a:effectLst/>
                          <a:latin typeface="Aptos Narrow" panose="020B0004020202020204" pitchFamily="34" charset="0"/>
                          <a:ea typeface="Times New Roman" panose="02020603050405020304" pitchFamily="18" charset="0"/>
                          <a:cs typeface="Times New Roman" panose="02020603050405020304" pitchFamily="18" charset="0"/>
                        </a:rPr>
                        <a:t>-0.593143</a:t>
                      </a:r>
                      <a:endParaRPr lang="en-US" sz="14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dirty="0">
                          <a:solidFill>
                            <a:srgbClr val="FF0000"/>
                          </a:solidFill>
                          <a:effectLst/>
                          <a:latin typeface="Aptos Narrow" panose="020B0004020202020204" pitchFamily="34" charset="0"/>
                          <a:ea typeface="Times New Roman" panose="02020603050405020304" pitchFamily="18" charset="0"/>
                          <a:cs typeface="Times New Roman" panose="02020603050405020304" pitchFamily="18" charset="0"/>
                        </a:rPr>
                        <a:t>-0.479213</a:t>
                      </a:r>
                      <a:endParaRPr lang="en-US" sz="14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7489056"/>
                  </a:ext>
                </a:extLst>
              </a:tr>
              <a:tr h="283560">
                <a:tc>
                  <a:txBody>
                    <a:bodyPr/>
                    <a:lstStyle/>
                    <a:p>
                      <a:pPr marL="0" marR="0" indent="0" algn="l">
                        <a:lnSpc>
                          <a:spcPct val="200000"/>
                        </a:lnSpc>
                        <a:buNone/>
                      </a:pPr>
                      <a:r>
                        <a:rPr lang="en-US" sz="140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Retail Prices</a:t>
                      </a:r>
                      <a:endParaRPr lang="en-US" sz="140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dirty="0">
                          <a:solidFill>
                            <a:srgbClr val="FF0000"/>
                          </a:solidFill>
                          <a:effectLst/>
                          <a:latin typeface="Aptos Narrow" panose="020B0004020202020204" pitchFamily="34" charset="0"/>
                          <a:ea typeface="Times New Roman" panose="02020603050405020304" pitchFamily="18" charset="0"/>
                          <a:cs typeface="Times New Roman" panose="02020603050405020304" pitchFamily="18" charset="0"/>
                        </a:rPr>
                        <a:t>-0.219050</a:t>
                      </a:r>
                      <a:endParaRPr lang="en-US" sz="14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a:solidFill>
                            <a:srgbClr val="FF0000"/>
                          </a:solidFill>
                          <a:effectLst/>
                          <a:latin typeface="Aptos Narrow" panose="020B0004020202020204" pitchFamily="34" charset="0"/>
                          <a:ea typeface="Times New Roman" panose="02020603050405020304" pitchFamily="18" charset="0"/>
                          <a:cs typeface="Times New Roman" panose="02020603050405020304" pitchFamily="18" charset="0"/>
                        </a:rPr>
                        <a:t>1.000000</a:t>
                      </a:r>
                      <a:endParaRPr lang="en-US" sz="140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dirty="0">
                          <a:solidFill>
                            <a:schemeClr val="tx1"/>
                          </a:solidFill>
                          <a:effectLst/>
                          <a:latin typeface="Aptos Narrow" panose="020B0004020202020204" pitchFamily="34" charset="0"/>
                          <a:ea typeface="Times New Roman" panose="02020603050405020304" pitchFamily="18" charset="0"/>
                          <a:cs typeface="Times New Roman" panose="02020603050405020304" pitchFamily="18" charset="0"/>
                        </a:rPr>
                        <a:t>0.666901</a:t>
                      </a:r>
                      <a:endParaRPr lang="en-US" sz="14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dirty="0">
                          <a:solidFill>
                            <a:schemeClr val="tx1"/>
                          </a:solidFill>
                          <a:effectLst/>
                          <a:latin typeface="Aptos Narrow" panose="020B0004020202020204" pitchFamily="34" charset="0"/>
                          <a:ea typeface="Times New Roman" panose="02020603050405020304" pitchFamily="18" charset="0"/>
                          <a:cs typeface="Times New Roman" panose="02020603050405020304" pitchFamily="18" charset="0"/>
                        </a:rPr>
                        <a:t>0.186847</a:t>
                      </a:r>
                      <a:endParaRPr lang="en-US" sz="14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5253"/>
                  </a:ext>
                </a:extLst>
              </a:tr>
              <a:tr h="283560">
                <a:tc>
                  <a:txBody>
                    <a:bodyPr/>
                    <a:lstStyle/>
                    <a:p>
                      <a:pPr marL="0" marR="0" indent="0" algn="l">
                        <a:lnSpc>
                          <a:spcPct val="200000"/>
                        </a:lnSpc>
                        <a:buNone/>
                      </a:pPr>
                      <a:r>
                        <a:rPr lang="en-US" sz="140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CA_Tax_Rate</a:t>
                      </a:r>
                      <a:endParaRPr lang="en-US" sz="140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dirty="0">
                          <a:solidFill>
                            <a:srgbClr val="FF0000"/>
                          </a:solidFill>
                          <a:effectLst/>
                          <a:latin typeface="Aptos Narrow" panose="020B0004020202020204" pitchFamily="34" charset="0"/>
                          <a:ea typeface="Times New Roman" panose="02020603050405020304" pitchFamily="18" charset="0"/>
                          <a:cs typeface="Times New Roman" panose="02020603050405020304" pitchFamily="18" charset="0"/>
                        </a:rPr>
                        <a:t>-0.593143</a:t>
                      </a:r>
                      <a:endParaRPr lang="en-US" sz="14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0.666901</a:t>
                      </a:r>
                      <a:endParaRPr lang="en-US" sz="140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1.000000</a:t>
                      </a:r>
                      <a:endParaRPr lang="en-US" sz="140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0.597674</a:t>
                      </a:r>
                      <a:endParaRPr lang="en-US" sz="14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4991850"/>
                  </a:ext>
                </a:extLst>
              </a:tr>
              <a:tr h="283560">
                <a:tc>
                  <a:txBody>
                    <a:bodyPr/>
                    <a:lstStyle/>
                    <a:p>
                      <a:pPr marL="0" marR="0" indent="0" algn="l">
                        <a:lnSpc>
                          <a:spcPct val="200000"/>
                        </a:lnSpc>
                        <a:buNone/>
                      </a:pPr>
                      <a:r>
                        <a:rPr lang="en-US" sz="140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GDP </a:t>
                      </a:r>
                      <a:endParaRPr lang="en-US" sz="140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dirty="0">
                          <a:solidFill>
                            <a:srgbClr val="FF0000"/>
                          </a:solidFill>
                          <a:effectLst/>
                          <a:latin typeface="Aptos Narrow" panose="020B0004020202020204" pitchFamily="34" charset="0"/>
                          <a:ea typeface="Times New Roman" panose="02020603050405020304" pitchFamily="18" charset="0"/>
                          <a:cs typeface="Times New Roman" panose="02020603050405020304" pitchFamily="18" charset="0"/>
                        </a:rPr>
                        <a:t>-0.479213</a:t>
                      </a:r>
                      <a:endParaRPr lang="en-US" sz="14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0.186847</a:t>
                      </a:r>
                      <a:endParaRPr lang="en-US" sz="140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0.597674</a:t>
                      </a:r>
                      <a:endParaRPr lang="en-US" sz="140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r">
                        <a:lnSpc>
                          <a:spcPct val="200000"/>
                        </a:lnSpc>
                        <a:buNone/>
                      </a:pPr>
                      <a:r>
                        <a:rPr lang="en-US" sz="140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1.000000</a:t>
                      </a:r>
                      <a:endParaRPr lang="en-US" sz="14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762" marR="68762"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5401055"/>
                  </a:ext>
                </a:extLst>
              </a:tr>
            </a:tbl>
          </a:graphicData>
        </a:graphic>
      </p:graphicFrame>
    </p:spTree>
    <p:extLst>
      <p:ext uri="{BB962C8B-B14F-4D97-AF65-F5344CB8AC3E}">
        <p14:creationId xmlns:p14="http://schemas.microsoft.com/office/powerpoint/2010/main" val="3892087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green and blue bar graph&#10;&#10;AI-generated content may be incorrect.">
            <a:extLst>
              <a:ext uri="{FF2B5EF4-FFF2-40B4-BE49-F238E27FC236}">
                <a16:creationId xmlns:a16="http://schemas.microsoft.com/office/drawing/2014/main" id="{160084D8-73CD-0263-5980-F0FCB74B8076}"/>
              </a:ext>
            </a:extLst>
          </p:cNvPr>
          <p:cNvPicPr>
            <a:picLocks noChangeAspect="1"/>
          </p:cNvPicPr>
          <p:nvPr/>
        </p:nvPicPr>
        <p:blipFill>
          <a:blip r:embed="rId2"/>
          <a:srcRect t="13750" b="1261"/>
          <a:stretch>
            <a:fillRect/>
          </a:stretch>
        </p:blipFill>
        <p:spPr>
          <a:xfrm>
            <a:off x="20" y="10"/>
            <a:ext cx="12191980" cy="2253696"/>
          </a:xfrm>
          <a:prstGeom prst="rect">
            <a:avLst/>
          </a:prstGeom>
        </p:spPr>
      </p:pic>
      <p:sp>
        <p:nvSpPr>
          <p:cNvPr id="9" name="Rectangle 8">
            <a:extLst>
              <a:ext uri="{FF2B5EF4-FFF2-40B4-BE49-F238E27FC236}">
                <a16:creationId xmlns:a16="http://schemas.microsoft.com/office/drawing/2014/main" id="{7D2BFFD5-490F-4B45-91F2-6B826FBAD4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53706"/>
            <a:ext cx="12192000" cy="46042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 name="Title 1">
            <a:extLst>
              <a:ext uri="{FF2B5EF4-FFF2-40B4-BE49-F238E27FC236}">
                <a16:creationId xmlns:a16="http://schemas.microsoft.com/office/drawing/2014/main" id="{9ACF0F64-3842-8DC2-6737-94C2FAE732CD}"/>
              </a:ext>
            </a:extLst>
          </p:cNvPr>
          <p:cNvSpPr>
            <a:spLocks noGrp="1"/>
          </p:cNvSpPr>
          <p:nvPr>
            <p:ph type="title"/>
          </p:nvPr>
        </p:nvSpPr>
        <p:spPr>
          <a:xfrm>
            <a:off x="657224" y="2592578"/>
            <a:ext cx="10772775" cy="1092729"/>
          </a:xfrm>
        </p:spPr>
        <p:txBody>
          <a:bodyPr>
            <a:normAutofit/>
          </a:bodyPr>
          <a:lstStyle/>
          <a:p>
            <a:r>
              <a:rPr lang="en-US" sz="4800">
                <a:solidFill>
                  <a:srgbClr val="FFFFFF"/>
                </a:solidFill>
              </a:rPr>
              <a:t>Model Performance</a:t>
            </a:r>
          </a:p>
        </p:txBody>
      </p:sp>
      <p:sp>
        <p:nvSpPr>
          <p:cNvPr id="3" name="Content Placeholder 2">
            <a:extLst>
              <a:ext uri="{FF2B5EF4-FFF2-40B4-BE49-F238E27FC236}">
                <a16:creationId xmlns:a16="http://schemas.microsoft.com/office/drawing/2014/main" id="{C1BD7102-F98C-6A51-5542-A75AEEC6F5C5}"/>
              </a:ext>
            </a:extLst>
          </p:cNvPr>
          <p:cNvSpPr>
            <a:spLocks noGrp="1"/>
          </p:cNvSpPr>
          <p:nvPr>
            <p:ph idx="1"/>
          </p:nvPr>
        </p:nvSpPr>
        <p:spPr>
          <a:xfrm>
            <a:off x="676656" y="3685308"/>
            <a:ext cx="10753725" cy="2191103"/>
          </a:xfrm>
        </p:spPr>
        <p:txBody>
          <a:bodyPr>
            <a:normAutofit/>
          </a:bodyPr>
          <a:lstStyle/>
          <a:p>
            <a:r>
              <a:rPr lang="en-US" sz="2000" dirty="0">
                <a:solidFill>
                  <a:srgbClr val="FFFFFF"/>
                </a:solidFill>
              </a:rPr>
              <a:t>I started my analysis looking at the impact of price, gallons sold, and GDP influencing on predicting tax rate. These graphs show the difference in the model R^2 and RMSE results.  When the R^2 is closer to 1 the model is a better fit to the date.  The desired RMSE is closer to zero.</a:t>
            </a:r>
          </a:p>
          <a:p>
            <a:endParaRPr lang="en-US" sz="2000" dirty="0">
              <a:solidFill>
                <a:srgbClr val="FFFFFF"/>
              </a:solidFill>
            </a:endParaRPr>
          </a:p>
        </p:txBody>
      </p:sp>
    </p:spTree>
    <p:extLst>
      <p:ext uri="{BB962C8B-B14F-4D97-AF65-F5344CB8AC3E}">
        <p14:creationId xmlns:p14="http://schemas.microsoft.com/office/powerpoint/2010/main" val="197567792"/>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comparison of a graph&#10;&#10;AI-generated content may be incorrect.">
            <a:extLst>
              <a:ext uri="{FF2B5EF4-FFF2-40B4-BE49-F238E27FC236}">
                <a16:creationId xmlns:a16="http://schemas.microsoft.com/office/drawing/2014/main" id="{95DD6413-E1B8-F149-7E46-D43F04EF1693}"/>
              </a:ext>
            </a:extLst>
          </p:cNvPr>
          <p:cNvPicPr>
            <a:picLocks noChangeAspect="1"/>
          </p:cNvPicPr>
          <p:nvPr/>
        </p:nvPicPr>
        <p:blipFill>
          <a:blip r:embed="rId2"/>
          <a:srcRect t="12355" b="656"/>
          <a:stretch>
            <a:fillRect/>
          </a:stretch>
        </p:blipFill>
        <p:spPr>
          <a:xfrm>
            <a:off x="20" y="10"/>
            <a:ext cx="12191980" cy="2253696"/>
          </a:xfrm>
          <a:prstGeom prst="rect">
            <a:avLst/>
          </a:prstGeom>
        </p:spPr>
      </p:pic>
      <p:sp>
        <p:nvSpPr>
          <p:cNvPr id="9" name="Rectangle 8">
            <a:extLst>
              <a:ext uri="{FF2B5EF4-FFF2-40B4-BE49-F238E27FC236}">
                <a16:creationId xmlns:a16="http://schemas.microsoft.com/office/drawing/2014/main" id="{7D2BFFD5-490F-4B45-91F2-6B826FBAD4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53706"/>
            <a:ext cx="12192000" cy="46042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 name="Title 1">
            <a:extLst>
              <a:ext uri="{FF2B5EF4-FFF2-40B4-BE49-F238E27FC236}">
                <a16:creationId xmlns:a16="http://schemas.microsoft.com/office/drawing/2014/main" id="{693449B3-0E1C-E911-5606-D97B46CA0840}"/>
              </a:ext>
            </a:extLst>
          </p:cNvPr>
          <p:cNvSpPr>
            <a:spLocks noGrp="1"/>
          </p:cNvSpPr>
          <p:nvPr>
            <p:ph type="title"/>
          </p:nvPr>
        </p:nvSpPr>
        <p:spPr>
          <a:xfrm>
            <a:off x="657224" y="2592578"/>
            <a:ext cx="10772775" cy="1092729"/>
          </a:xfrm>
        </p:spPr>
        <p:txBody>
          <a:bodyPr>
            <a:normAutofit/>
          </a:bodyPr>
          <a:lstStyle/>
          <a:p>
            <a:r>
              <a:rPr lang="en-US" sz="4800">
                <a:solidFill>
                  <a:srgbClr val="FFFFFF"/>
                </a:solidFill>
              </a:rPr>
              <a:t>2</a:t>
            </a:r>
            <a:r>
              <a:rPr lang="en-US" sz="4800" baseline="30000">
                <a:solidFill>
                  <a:srgbClr val="FFFFFF"/>
                </a:solidFill>
              </a:rPr>
              <a:t>nd</a:t>
            </a:r>
            <a:r>
              <a:rPr lang="en-US" sz="4800">
                <a:solidFill>
                  <a:srgbClr val="FFFFFF"/>
                </a:solidFill>
              </a:rPr>
              <a:t> Model Performance	</a:t>
            </a:r>
          </a:p>
        </p:txBody>
      </p:sp>
      <p:sp>
        <p:nvSpPr>
          <p:cNvPr id="3" name="Content Placeholder 2">
            <a:extLst>
              <a:ext uri="{FF2B5EF4-FFF2-40B4-BE49-F238E27FC236}">
                <a16:creationId xmlns:a16="http://schemas.microsoft.com/office/drawing/2014/main" id="{8FF9EAFD-105E-8CAB-AAE7-C982282DE9C8}"/>
              </a:ext>
            </a:extLst>
          </p:cNvPr>
          <p:cNvSpPr>
            <a:spLocks noGrp="1"/>
          </p:cNvSpPr>
          <p:nvPr>
            <p:ph idx="1"/>
          </p:nvPr>
        </p:nvSpPr>
        <p:spPr>
          <a:xfrm>
            <a:off x="676656" y="3685308"/>
            <a:ext cx="10753725" cy="2191103"/>
          </a:xfrm>
        </p:spPr>
        <p:txBody>
          <a:bodyPr>
            <a:normAutofit/>
          </a:bodyPr>
          <a:lstStyle/>
          <a:p>
            <a:r>
              <a:rPr lang="en-US" sz="2000">
                <a:solidFill>
                  <a:srgbClr val="FFFFFF"/>
                </a:solidFill>
              </a:rPr>
              <a:t>After looking at the results of these, I decided to go back and rerun the same models but where prices were the target and only taxes is the only feature.  This would better answer the question: “What impact does gasoline taxes have on prices and sales of gasoline”.  </a:t>
            </a:r>
          </a:p>
          <a:p>
            <a:endParaRPr lang="en-US" sz="2000">
              <a:solidFill>
                <a:srgbClr val="FFFFFF"/>
              </a:solidFill>
            </a:endParaRPr>
          </a:p>
        </p:txBody>
      </p:sp>
    </p:spTree>
    <p:extLst>
      <p:ext uri="{BB962C8B-B14F-4D97-AF65-F5344CB8AC3E}">
        <p14:creationId xmlns:p14="http://schemas.microsoft.com/office/powerpoint/2010/main" val="236528575"/>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C3947-D0B7-2D6E-CD3C-8CF2CD578957}"/>
              </a:ext>
            </a:extLst>
          </p:cNvPr>
          <p:cNvSpPr>
            <a:spLocks noGrp="1"/>
          </p:cNvSpPr>
          <p:nvPr>
            <p:ph type="title"/>
          </p:nvPr>
        </p:nvSpPr>
        <p:spPr/>
        <p:txBody>
          <a:bodyPr/>
          <a:lstStyle/>
          <a:p>
            <a:r>
              <a:rPr lang="en-US" dirty="0"/>
              <a:t>Model Interpretation</a:t>
            </a:r>
          </a:p>
        </p:txBody>
      </p:sp>
      <p:sp>
        <p:nvSpPr>
          <p:cNvPr id="3" name="Content Placeholder 2">
            <a:extLst>
              <a:ext uri="{FF2B5EF4-FFF2-40B4-BE49-F238E27FC236}">
                <a16:creationId xmlns:a16="http://schemas.microsoft.com/office/drawing/2014/main" id="{0A3E507C-F64C-F888-769A-4233507F44FE}"/>
              </a:ext>
            </a:extLst>
          </p:cNvPr>
          <p:cNvSpPr>
            <a:spLocks noGrp="1"/>
          </p:cNvSpPr>
          <p:nvPr>
            <p:ph idx="1"/>
          </p:nvPr>
        </p:nvSpPr>
        <p:spPr/>
        <p:txBody>
          <a:bodyPr>
            <a:normAutofit/>
          </a:bodyPr>
          <a:lstStyle/>
          <a:p>
            <a:pPr>
              <a:lnSpc>
                <a:spcPct val="120000"/>
              </a:lnSpc>
            </a:pPr>
            <a:r>
              <a:rPr lang="en-US" dirty="0"/>
              <a:t>First regression model had comparable results in R</a:t>
            </a:r>
            <a:r>
              <a:rPr lang="en-US" baseline="30000" dirty="0"/>
              <a:t>2 </a:t>
            </a:r>
            <a:r>
              <a:rPr lang="en-US" dirty="0"/>
              <a:t>were about .75 and low RSME indicating high fit and little variance in the model.  The Random Forest mode had an R</a:t>
            </a:r>
            <a:r>
              <a:rPr lang="en-US" baseline="30000" dirty="0"/>
              <a:t>2 </a:t>
            </a:r>
            <a:r>
              <a:rPr lang="en-US" dirty="0"/>
              <a:t>of .89 with an RSME 50% lower than the regression models.  But this model had tax rate as the target variable.</a:t>
            </a:r>
          </a:p>
          <a:p>
            <a:pPr>
              <a:lnSpc>
                <a:spcPct val="120000"/>
              </a:lnSpc>
            </a:pPr>
            <a:r>
              <a:rPr lang="en-US" dirty="0"/>
              <a:t>The second model was run with the target variable of price and the tax amount as the only other model variable.  This time the R</a:t>
            </a:r>
            <a:r>
              <a:rPr lang="en-US" baseline="30000" dirty="0"/>
              <a:t>2</a:t>
            </a:r>
            <a:r>
              <a:rPr lang="en-US" dirty="0"/>
              <a:t> were much lower at about 50% of the first model with higher variability in the RSME.</a:t>
            </a:r>
          </a:p>
          <a:p>
            <a:endParaRPr lang="en-US" dirty="0"/>
          </a:p>
        </p:txBody>
      </p:sp>
    </p:spTree>
    <p:extLst>
      <p:ext uri="{BB962C8B-B14F-4D97-AF65-F5344CB8AC3E}">
        <p14:creationId xmlns:p14="http://schemas.microsoft.com/office/powerpoint/2010/main" val="35921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D6F6937-3B5A-4391-9F37-58A571B36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86A15C-F320-2DF0-A823-587CB4F9AA35}"/>
              </a:ext>
            </a:extLst>
          </p:cNvPr>
          <p:cNvSpPr>
            <a:spLocks noGrp="1"/>
          </p:cNvSpPr>
          <p:nvPr>
            <p:ph type="title"/>
          </p:nvPr>
        </p:nvSpPr>
        <p:spPr>
          <a:xfrm>
            <a:off x="657224" y="936711"/>
            <a:ext cx="2988265" cy="4984578"/>
          </a:xfrm>
        </p:spPr>
        <p:txBody>
          <a:bodyPr>
            <a:normAutofit/>
          </a:bodyPr>
          <a:lstStyle/>
          <a:p>
            <a:r>
              <a:rPr lang="en-US" sz="4400">
                <a:solidFill>
                  <a:srgbClr val="FFFFFF"/>
                </a:solidFill>
              </a:rPr>
              <a:t>Conclusion</a:t>
            </a:r>
          </a:p>
        </p:txBody>
      </p:sp>
      <p:sp>
        <p:nvSpPr>
          <p:cNvPr id="15" name="Content Placeholder 2">
            <a:extLst>
              <a:ext uri="{FF2B5EF4-FFF2-40B4-BE49-F238E27FC236}">
                <a16:creationId xmlns:a16="http://schemas.microsoft.com/office/drawing/2014/main" id="{0E739565-7B9E-CAFE-D6D5-88E14754F811}"/>
              </a:ext>
            </a:extLst>
          </p:cNvPr>
          <p:cNvSpPr>
            <a:spLocks noGrp="1"/>
          </p:cNvSpPr>
          <p:nvPr>
            <p:ph idx="1"/>
          </p:nvPr>
        </p:nvSpPr>
        <p:spPr>
          <a:xfrm>
            <a:off x="4614389" y="936711"/>
            <a:ext cx="6815992" cy="4984578"/>
          </a:xfrm>
        </p:spPr>
        <p:txBody>
          <a:bodyPr anchor="ctr">
            <a:normAutofit/>
          </a:bodyPr>
          <a:lstStyle/>
          <a:p>
            <a:pPr marL="230188" indent="-90488">
              <a:buFont typeface="Arial" panose="020B0604020202020204" pitchFamily="34" charset="0"/>
              <a:buChar char="•"/>
            </a:pPr>
            <a:r>
              <a:rPr lang="en-US" sz="2200"/>
              <a:t>There are relationships between taxes and the other features</a:t>
            </a:r>
          </a:p>
          <a:p>
            <a:pPr marL="230188" indent="-90488">
              <a:buFont typeface="Arial" panose="020B0604020202020204" pitchFamily="34" charset="0"/>
              <a:buChar char="•"/>
            </a:pPr>
            <a:r>
              <a:rPr lang="en-US" sz="2200"/>
              <a:t>Using the retail price, gallons sold, and GDP can predict the tax rate</a:t>
            </a:r>
          </a:p>
          <a:p>
            <a:pPr marL="230188" indent="-90488">
              <a:buFont typeface="Arial" panose="020B0604020202020204" pitchFamily="34" charset="0"/>
              <a:buChar char="•"/>
            </a:pPr>
            <a:r>
              <a:rPr lang="en-US" sz="2200"/>
              <a:t>The tax rate alone and its ability to predict the retail price does not have strong models.  </a:t>
            </a:r>
          </a:p>
          <a:p>
            <a:pPr marL="230188" indent="-90488">
              <a:buFont typeface="Arial" panose="020B0604020202020204" pitchFamily="34" charset="0"/>
              <a:buChar char="•"/>
            </a:pPr>
            <a:r>
              <a:rPr lang="en-US" sz="2200"/>
              <a:t>My initial proposal was that as taxes go up so should the retail price leading to decreased sales.  The models have shown that they could predict the retail price based on taxes but which much variance.  This tells me that the other features are needed to accurately predict retail prices and volume of gasoline sold.  </a:t>
            </a:r>
          </a:p>
          <a:p>
            <a:pPr marL="230188" indent="-90488">
              <a:buFont typeface="Arial" panose="020B0604020202020204" pitchFamily="34" charset="0"/>
              <a:buChar char="•"/>
            </a:pPr>
            <a:r>
              <a:rPr lang="en-US" sz="2200"/>
              <a:t>To be able to deploy a model for this topic, additional models would need to be run.</a:t>
            </a:r>
          </a:p>
        </p:txBody>
      </p:sp>
    </p:spTree>
    <p:extLst>
      <p:ext uri="{BB962C8B-B14F-4D97-AF65-F5344CB8AC3E}">
        <p14:creationId xmlns:p14="http://schemas.microsoft.com/office/powerpoint/2010/main" val="2152065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4B65E-158B-560A-ED37-D4753F48C1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E05FD2-4330-6A62-BFEB-3237A7D60553}"/>
              </a:ext>
            </a:extLst>
          </p:cNvPr>
          <p:cNvSpPr>
            <a:spLocks noGrp="1"/>
          </p:cNvSpPr>
          <p:nvPr>
            <p:ph type="title"/>
          </p:nvPr>
        </p:nvSpPr>
        <p:spPr/>
        <p:txBody>
          <a:bodyPr/>
          <a:lstStyle/>
          <a:p>
            <a:r>
              <a:rPr lang="en-US" dirty="0"/>
              <a:t>Caitie Schrotberger</a:t>
            </a:r>
          </a:p>
        </p:txBody>
      </p:sp>
      <p:pic>
        <p:nvPicPr>
          <p:cNvPr id="8" name="Picture Placeholder 7">
            <a:extLst>
              <a:ext uri="{FF2B5EF4-FFF2-40B4-BE49-F238E27FC236}">
                <a16:creationId xmlns:a16="http://schemas.microsoft.com/office/drawing/2014/main" id="{6C0F9BE2-AA8C-32D7-8B96-8A6C9D3891AE}"/>
              </a:ext>
            </a:extLst>
          </p:cNvPr>
          <p:cNvPicPr>
            <a:picLocks noGrp="1" noChangeAspect="1"/>
          </p:cNvPicPr>
          <p:nvPr>
            <p:ph type="pic" idx="1"/>
          </p:nvPr>
        </p:nvPicPr>
        <p:blipFill>
          <a:blip r:embed="rId2"/>
          <a:srcRect t="13777" b="13777"/>
          <a:stretch/>
        </p:blipFill>
        <p:spPr>
          <a:prstGeom prst="rect">
            <a:avLst/>
          </a:prstGeom>
          <a:solidFill>
            <a:srgbClr val="4A66AC">
              <a:lumMod val="40000"/>
              <a:lumOff val="60000"/>
            </a:srgbClr>
          </a:solidFill>
        </p:spPr>
      </p:pic>
      <p:sp>
        <p:nvSpPr>
          <p:cNvPr id="6" name="Text Placeholder 5">
            <a:extLst>
              <a:ext uri="{FF2B5EF4-FFF2-40B4-BE49-F238E27FC236}">
                <a16:creationId xmlns:a16="http://schemas.microsoft.com/office/drawing/2014/main" id="{8DD68149-C2A8-49B9-903E-D7AA2C52007C}"/>
              </a:ext>
            </a:extLst>
          </p:cNvPr>
          <p:cNvSpPr>
            <a:spLocks noGrp="1"/>
          </p:cNvSpPr>
          <p:nvPr>
            <p:ph type="body" sz="half" idx="2"/>
          </p:nvPr>
        </p:nvSpPr>
        <p:spPr/>
        <p:txBody>
          <a:bodyPr>
            <a:noAutofit/>
          </a:bodyPr>
          <a:lstStyle/>
          <a:p>
            <a:pPr>
              <a:lnSpc>
                <a:spcPct val="100000"/>
              </a:lnSpc>
              <a:spcBef>
                <a:spcPts val="0"/>
              </a:spcBef>
            </a:pPr>
            <a:r>
              <a:rPr lang="en-US" sz="1200" dirty="0"/>
              <a:t>DSC 630 Predictive Analytics</a:t>
            </a:r>
          </a:p>
          <a:p>
            <a:pPr>
              <a:lnSpc>
                <a:spcPct val="100000"/>
              </a:lnSpc>
              <a:spcBef>
                <a:spcPts val="0"/>
              </a:spcBef>
            </a:pPr>
            <a:r>
              <a:rPr lang="en-US" sz="1200" dirty="0"/>
              <a:t>Fall 2025</a:t>
            </a:r>
          </a:p>
          <a:p>
            <a:pPr>
              <a:lnSpc>
                <a:spcPct val="100000"/>
              </a:lnSpc>
              <a:spcBef>
                <a:spcPts val="0"/>
              </a:spcBef>
            </a:pPr>
            <a:r>
              <a:rPr lang="en-US" sz="1200" dirty="0"/>
              <a:t>Professor Andrew Hua</a:t>
            </a:r>
          </a:p>
        </p:txBody>
      </p:sp>
    </p:spTree>
    <p:extLst>
      <p:ext uri="{BB962C8B-B14F-4D97-AF65-F5344CB8AC3E}">
        <p14:creationId xmlns:p14="http://schemas.microsoft.com/office/powerpoint/2010/main" val="1547055276"/>
      </p:ext>
    </p:extLst>
  </p:cSld>
  <p:clrMapOvr>
    <a:masterClrMapping/>
  </p:clrMapOvr>
</p:sld>
</file>

<file path=ppt/theme/theme1.xml><?xml version="1.0" encoding="utf-8"?>
<a:theme xmlns:a="http://schemas.openxmlformats.org/drawingml/2006/main" name="Metropolita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TM03457491[[fn=Metropolitan]]</Template>
  <TotalTime>153</TotalTime>
  <Words>1552</Words>
  <Application>Microsoft Office PowerPoint</Application>
  <PresentationFormat>Widescreen</PresentationFormat>
  <Paragraphs>125</Paragraphs>
  <Slides>12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Narrow</vt:lpstr>
      <vt:lpstr>Arial</vt:lpstr>
      <vt:lpstr>Calibri</vt:lpstr>
      <vt:lpstr>Calibri Light</vt:lpstr>
      <vt:lpstr>Metropolitan</vt:lpstr>
      <vt:lpstr>What Impact Does Gasoline Taxes have on Prices and Sales of Gasoline?</vt:lpstr>
      <vt:lpstr>Gasoline Tax Impact on Price and Sales</vt:lpstr>
      <vt:lpstr>Data Selection</vt:lpstr>
      <vt:lpstr>Risks Ethical Considerations Contingency Plan</vt:lpstr>
      <vt:lpstr>Data Models and Evaluation Plan</vt:lpstr>
      <vt:lpstr>California Data</vt:lpstr>
      <vt:lpstr>Confusion Matrix</vt:lpstr>
      <vt:lpstr>Model Performance</vt:lpstr>
      <vt:lpstr>2nd Model Performance </vt:lpstr>
      <vt:lpstr>Model Interpretation</vt:lpstr>
      <vt:lpstr>Conclusion</vt:lpstr>
      <vt:lpstr>Caitie Schrotberger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Catherine Schrotberger</dc:creator>
  <cp:lastModifiedBy>Catherine Schrotberger</cp:lastModifiedBy>
  <cp:revision>6</cp:revision>
  <dcterms:created xsi:type="dcterms:W3CDTF">2025-11-22T16:47:16Z</dcterms:created>
  <dcterms:modified xsi:type="dcterms:W3CDTF">2025-11-23T17:13:14Z</dcterms:modified>
</cp:coreProperties>
</file>